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9">
          <p15:clr>
            <a:srgbClr val="A4A3A4"/>
          </p15:clr>
        </p15:guide>
        <p15:guide id="2" pos="211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h/tsMEUB4fsak1XG2LgwxQQdB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9" orient="horz"/>
        <p:guide pos="21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저작권">
  <p:cSld name="저작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/>
        </p:nvSpPr>
        <p:spPr>
          <a:xfrm>
            <a:off x="833967" y="981075"/>
            <a:ext cx="9582151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제대로 시작하는 기초 통계학 2판 : Excel 활용</a:t>
            </a:r>
            <a:endParaRPr b="1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67"/>
          <p:cNvSpPr txBox="1"/>
          <p:nvPr/>
        </p:nvSpPr>
        <p:spPr>
          <a:xfrm>
            <a:off x="812801" y="1700213"/>
            <a:ext cx="10655300" cy="107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노경섭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b="1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한빛아카데미㈜</a:t>
            </a:r>
            <a:r>
              <a:rPr b="0" i="0" lang="ko-KR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있습니다.</a:t>
            </a:r>
            <a:r>
              <a:rPr b="0" i="0" lang="ko-KR" sz="1000" u="none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000" u="none" cap="none" strike="noStrik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Char char="•"/>
            </a:pPr>
            <a:r>
              <a:rPr b="0" i="0" lang="ko-KR" sz="1000" u="sng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벌금에 처할 수 있고 이를 병과(倂科)할 수도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67"/>
          <p:cNvSpPr/>
          <p:nvPr/>
        </p:nvSpPr>
        <p:spPr>
          <a:xfrm>
            <a:off x="425451" y="404814"/>
            <a:ext cx="11330516" cy="6048375"/>
          </a:xfrm>
          <a:prstGeom prst="roundRect">
            <a:avLst>
              <a:gd fmla="val 8163" name="adj"/>
            </a:avLst>
          </a:prstGeom>
          <a:noFill/>
          <a:ln cap="flat" cmpd="sng" w="539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\Documents and Settings\hanb\바탕 화면\한빛아카데미.bmp" id="19" name="Google Shape;19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49317" y="5927725"/>
            <a:ext cx="2123016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">
  <p:cSld name="제목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8"/>
          <p:cNvPicPr preferRelativeResize="0"/>
          <p:nvPr/>
        </p:nvPicPr>
        <p:blipFill rotWithShape="1">
          <a:blip r:embed="rId2">
            <a:alphaModFix/>
          </a:blip>
          <a:srcRect b="0" l="0" r="311" t="0"/>
          <a:stretch/>
        </p:blipFill>
        <p:spPr>
          <a:xfrm>
            <a:off x="1" y="0"/>
            <a:ext cx="12192000" cy="685733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8"/>
          <p:cNvSpPr/>
          <p:nvPr/>
        </p:nvSpPr>
        <p:spPr>
          <a:xfrm>
            <a:off x="565403" y="5742408"/>
            <a:ext cx="1028455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200" u="none" cap="none" strike="noStrike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1" i="0" sz="3200" u="none" cap="none" strike="noStrike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68"/>
          <p:cNvSpPr/>
          <p:nvPr/>
        </p:nvSpPr>
        <p:spPr>
          <a:xfrm>
            <a:off x="1847528" y="5711630"/>
            <a:ext cx="4023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5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분산분석</a:t>
            </a:r>
            <a:endParaRPr b="1" i="0" sz="5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68"/>
          <p:cNvSpPr/>
          <p:nvPr/>
        </p:nvSpPr>
        <p:spPr>
          <a:xfrm>
            <a:off x="4791059" y="6039201"/>
            <a:ext cx="2953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Analysis of Variance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9"/>
          <p:cNvSpPr/>
          <p:nvPr/>
        </p:nvSpPr>
        <p:spPr>
          <a:xfrm>
            <a:off x="0" y="-22224"/>
            <a:ext cx="12192000" cy="555625"/>
          </a:xfrm>
          <a:prstGeom prst="rect">
            <a:avLst/>
          </a:prstGeom>
          <a:solidFill>
            <a:srgbClr val="B3E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69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0"/>
          <p:cNvSpPr/>
          <p:nvPr/>
        </p:nvSpPr>
        <p:spPr>
          <a:xfrm>
            <a:off x="0" y="647700"/>
            <a:ext cx="12192000" cy="6210300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0" name="Google Shape;30;p70"/>
          <p:cNvGrpSpPr/>
          <p:nvPr/>
        </p:nvGrpSpPr>
        <p:grpSpPr>
          <a:xfrm>
            <a:off x="7907867" y="44451"/>
            <a:ext cx="3626812" cy="523220"/>
            <a:chOff x="6685508" y="188640"/>
            <a:chExt cx="2721600" cy="521913"/>
          </a:xfrm>
        </p:grpSpPr>
        <p:sp>
          <p:nvSpPr>
            <p:cNvPr id="31" name="Google Shape;31;p70"/>
            <p:cNvSpPr/>
            <p:nvPr/>
          </p:nvSpPr>
          <p:spPr>
            <a:xfrm>
              <a:off x="8248464" y="188640"/>
              <a:ext cx="1158644" cy="521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800" u="none" cap="none" strike="noStrike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분산분석</a:t>
              </a:r>
              <a:endParaRPr/>
            </a:p>
          </p:txBody>
        </p:sp>
        <p:sp>
          <p:nvSpPr>
            <p:cNvPr id="32" name="Google Shape;32;p70"/>
            <p:cNvSpPr/>
            <p:nvPr/>
          </p:nvSpPr>
          <p:spPr>
            <a:xfrm>
              <a:off x="6685508" y="188640"/>
              <a:ext cx="1237170" cy="521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Chapter </a:t>
              </a:r>
              <a:r>
                <a:rPr b="1" i="0" lang="ko-KR" sz="2800" u="none" cap="none" strike="noStrike">
                  <a:solidFill>
                    <a:srgbClr val="984807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09</a:t>
              </a:r>
              <a:endParaRPr b="1" i="0" sz="2800" u="none" cap="none" strike="noStrike">
                <a:solidFill>
                  <a:srgbClr val="984807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" name="Google Shape;33;p70"/>
          <p:cNvSpPr/>
          <p:nvPr/>
        </p:nvSpPr>
        <p:spPr>
          <a:xfrm>
            <a:off x="0" y="587375"/>
            <a:ext cx="12192000" cy="10795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81C1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" name="Google Shape;34;p70"/>
          <p:cNvPicPr preferRelativeResize="0"/>
          <p:nvPr/>
        </p:nvPicPr>
        <p:blipFill rotWithShape="1">
          <a:blip r:embed="rId2">
            <a:alphaModFix/>
          </a:blip>
          <a:srcRect b="13762" l="59491" r="5121" t="68494"/>
          <a:stretch/>
        </p:blipFill>
        <p:spPr>
          <a:xfrm>
            <a:off x="7361767" y="5372100"/>
            <a:ext cx="4415367" cy="135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1_본문(이론)">
  <p:cSld name="part1_본문(이론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1"/>
          <p:cNvCxnSpPr/>
          <p:nvPr/>
        </p:nvCxnSpPr>
        <p:spPr>
          <a:xfrm>
            <a:off x="1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71"/>
          <p:cNvCxnSpPr/>
          <p:nvPr/>
        </p:nvCxnSpPr>
        <p:spPr>
          <a:xfrm>
            <a:off x="31199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1"/>
          <p:cNvCxnSpPr/>
          <p:nvPr/>
        </p:nvCxnSpPr>
        <p:spPr>
          <a:xfrm>
            <a:off x="5952067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9933">
                <a:alpha val="4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1"/>
          <p:cNvCxnSpPr/>
          <p:nvPr/>
        </p:nvCxnSpPr>
        <p:spPr>
          <a:xfrm>
            <a:off x="9072034" y="908050"/>
            <a:ext cx="3119967" cy="0"/>
          </a:xfrm>
          <a:prstGeom prst="straightConnector1">
            <a:avLst/>
          </a:prstGeom>
          <a:noFill/>
          <a:ln cap="flat" cmpd="sng" w="76200">
            <a:solidFill>
              <a:srgbClr val="FFCC66">
                <a:alpha val="2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71"/>
          <p:cNvSpPr/>
          <p:nvPr/>
        </p:nvSpPr>
        <p:spPr>
          <a:xfrm>
            <a:off x="11039012" y="6605588"/>
            <a:ext cx="11239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2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/64</a:t>
            </a:r>
            <a:endParaRPr/>
          </a:p>
        </p:txBody>
      </p:sp>
      <p:sp>
        <p:nvSpPr>
          <p:cNvPr id="41" name="Google Shape;41;p71"/>
          <p:cNvSpPr txBox="1"/>
          <p:nvPr>
            <p:ph type="title"/>
          </p:nvPr>
        </p:nvSpPr>
        <p:spPr>
          <a:xfrm>
            <a:off x="334433" y="188913"/>
            <a:ext cx="10081120" cy="54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334434" y="1052736"/>
            <a:ext cx="11522207" cy="547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  <a:defRPr b="1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2000"/>
              <a:buFont typeface="Noto Sans Symbols"/>
              <a:buChar char="▪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30200" lvl="2" marL="1371600" algn="l">
              <a:spcBef>
                <a:spcPts val="400"/>
              </a:spcBef>
              <a:spcAft>
                <a:spcPts val="0"/>
              </a:spcAft>
              <a:buClr>
                <a:srgbClr val="FF6600"/>
              </a:buClr>
              <a:buSzPts val="1600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3944" lvl="3" marL="1828800" algn="l">
              <a:spcBef>
                <a:spcPts val="300"/>
              </a:spcBef>
              <a:spcAft>
                <a:spcPts val="0"/>
              </a:spcAft>
              <a:buClr>
                <a:srgbClr val="FF6600"/>
              </a:buClr>
              <a:buSzPts val="1344"/>
              <a:buChar char="–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rgbClr val="00918E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끝">
  <p:cSld name="끝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2"/>
          <p:cNvSpPr txBox="1"/>
          <p:nvPr/>
        </p:nvSpPr>
        <p:spPr>
          <a:xfrm>
            <a:off x="7032104" y="1844824"/>
            <a:ext cx="4703233" cy="132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8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3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9.png"/><Relationship Id="rId4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3.png"/><Relationship Id="rId4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8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3.png"/><Relationship Id="rId4" Type="http://schemas.openxmlformats.org/officeDocument/2006/relationships/image" Target="../media/image83.png"/><Relationship Id="rId5" Type="http://schemas.openxmlformats.org/officeDocument/2006/relationships/image" Target="../media/image76.png"/><Relationship Id="rId6" Type="http://schemas.openxmlformats.org/officeDocument/2006/relationships/image" Target="../media/image8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3"/>
          <p:cNvGrpSpPr/>
          <p:nvPr/>
        </p:nvGrpSpPr>
        <p:grpSpPr>
          <a:xfrm>
            <a:off x="2166938" y="3309939"/>
            <a:ext cx="6953250" cy="719137"/>
            <a:chOff x="643260" y="3173386"/>
            <a:chExt cx="6953076" cy="720000"/>
          </a:xfrm>
        </p:grpSpPr>
        <p:sp>
          <p:nvSpPr>
            <p:cNvPr id="59" name="Google Shape;59;p3"/>
            <p:cNvSpPr/>
            <p:nvPr/>
          </p:nvSpPr>
          <p:spPr>
            <a:xfrm>
              <a:off x="643260" y="3225836"/>
              <a:ext cx="728644" cy="608743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754595" y="3294665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59204" y="3173386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96616" y="3318602"/>
              <a:ext cx="4824536" cy="4026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이원 분산분석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63;p3"/>
          <p:cNvGrpSpPr/>
          <p:nvPr/>
        </p:nvGrpSpPr>
        <p:grpSpPr>
          <a:xfrm>
            <a:off x="2166938" y="1057275"/>
            <a:ext cx="6953250" cy="719138"/>
            <a:chOff x="643260" y="980728"/>
            <a:chExt cx="6953076" cy="720000"/>
          </a:xfrm>
        </p:grpSpPr>
        <p:sp>
          <p:nvSpPr>
            <p:cNvPr id="64" name="Google Shape;64;p3"/>
            <p:cNvSpPr/>
            <p:nvPr/>
          </p:nvSpPr>
          <p:spPr>
            <a:xfrm>
              <a:off x="643260" y="1033179"/>
              <a:ext cx="728644" cy="608741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4594" y="1101879"/>
              <a:ext cx="540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400" u="none" cap="none" strike="noStrike">
                  <a:solidFill>
                    <a:srgbClr val="0A1E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1" i="0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359204" y="980728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496616" y="1135069"/>
              <a:ext cx="4824536" cy="402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분산분석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2166938" y="2178051"/>
            <a:ext cx="6953250" cy="720725"/>
            <a:chOff x="643260" y="2077057"/>
            <a:chExt cx="6953076" cy="720000"/>
          </a:xfrm>
        </p:grpSpPr>
        <p:sp>
          <p:nvSpPr>
            <p:cNvPr id="69" name="Google Shape;69;p3"/>
            <p:cNvSpPr/>
            <p:nvPr/>
          </p:nvSpPr>
          <p:spPr>
            <a:xfrm>
              <a:off x="643260" y="2148423"/>
              <a:ext cx="728644" cy="608987"/>
            </a:xfrm>
            <a:prstGeom prst="snipRoundRect">
              <a:avLst>
                <a:gd fmla="val 29583" name="adj1"/>
                <a:gd fmla="val 0" name="adj2"/>
              </a:avLst>
            </a:prstGeom>
            <a:solidFill>
              <a:srgbClr val="FABF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359204" y="2077057"/>
              <a:ext cx="6237132" cy="720000"/>
            </a:xfrm>
            <a:prstGeom prst="roundRect">
              <a:avLst>
                <a:gd fmla="val 2291" name="adj"/>
              </a:avLst>
            </a:prstGeom>
            <a:solidFill>
              <a:srgbClr val="F2F2F2">
                <a:alpha val="32549"/>
              </a:srgbClr>
            </a:solidFill>
            <a:ln cap="flat" cmpd="sng" w="38100">
              <a:solidFill>
                <a:srgbClr val="E4E4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496616" y="2227029"/>
              <a:ext cx="4824536" cy="401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2000" u="none" cap="none" strike="noStrike">
                  <a:solidFill>
                    <a:srgbClr val="242424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일원 분산분석</a:t>
              </a:r>
              <a:endParaRPr b="1" i="0" sz="2000" u="none" cap="none" strike="noStrike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2279577" y="2319264"/>
            <a:ext cx="5405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2400" u="none" cap="none" strike="noStrik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3"/>
          <p:cNvSpPr txBox="1"/>
          <p:nvPr>
            <p:ph type="title"/>
          </p:nvPr>
        </p:nvSpPr>
        <p:spPr>
          <a:xfrm>
            <a:off x="84667" y="35744"/>
            <a:ext cx="10380133" cy="47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목 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2279651" y="1371997"/>
            <a:ext cx="3443571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분산분석</a:t>
            </a:r>
            <a:endParaRPr b="1" i="0" sz="4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057032" y="3783850"/>
            <a:ext cx="72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800" u="none" cap="none" strike="noStrike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분산분석의 개념 | 분산분석의 구분 | 분산분석의 가정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340767"/>
            <a:ext cx="8857678" cy="4266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개념</a:t>
            </a:r>
            <a:endParaRPr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분산분석(ANnalysis Of VAriance : ANOVA)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1920년대 통계학자이며 생물학자인 R. A. Fisher가 고안한 분석방법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3개 이상의 집단에 대한 평균 차이를 검증하는 분석 방법</a:t>
            </a:r>
            <a:endParaRPr b="0" sz="1800">
              <a:solidFill>
                <a:schemeClr val="dk1"/>
              </a:solidFill>
            </a:endParaRPr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</a:rPr>
              <a:t>특성에 대한 산포의 제곱합을 요인별 제곱합으로 분해한 후 영향 요인을 찾아냄.</a:t>
            </a:r>
            <a:endParaRPr/>
          </a:p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</a:rPr>
              <a:t>가설검정은 F분포를 이용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cf. t검정에서는 직접적으로 두 집단에 대한 차이를 비교했지만,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3개 이상의 집단을 직접 비교하는 방법은 상당히 복잡하므로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분산분석을 사용하는 것이 편리</a:t>
            </a:r>
            <a:endParaRPr b="0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개념</a:t>
            </a:r>
            <a:endParaRPr/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분산분석에서의 편차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4766" y="2114348"/>
            <a:ext cx="5306003" cy="25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1919536" y="5013176"/>
            <a:ext cx="8038008" cy="11521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54" r="-14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353" y="2732040"/>
            <a:ext cx="2749822" cy="1393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개념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023992" y="2187225"/>
            <a:ext cx="829692" cy="4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7C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6960096" y="2241223"/>
            <a:ext cx="3096344" cy="377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간의 평균 차이가 커짐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1774825" y="1066801"/>
            <a:ext cx="8642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분산분석에서의 편차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2135560" y="2040943"/>
            <a:ext cx="4572000" cy="724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간의 분산이 크면 클수록,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내의 분산이 작으면 작을수록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2135560" y="3387143"/>
            <a:ext cx="7821240" cy="39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이때 집단 간의 상대적인 비율을 확인한 것을 분산비율 F라 한다.</a:t>
            </a:r>
            <a:endParaRPr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6887" y="4396442"/>
            <a:ext cx="5034210" cy="68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17" name="Google Shape;117;p9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일원 분산분석(one-way ANOVA)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한 가지의 요인을 기준으로 집단 간의 차이를 조사하는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Ex. 편의점의 종류를 기준으로 고객의 만족도를 조사하는 경우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514" y="3424238"/>
            <a:ext cx="4759325" cy="15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이원 분산분석(two-way ANOVA)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두 가지 요인을 기준으로 집단 간의 차이를 조사하는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Ex. 편의점을 종류와 위치를 기준으로 나누고,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 편의점에 대한 고객의 만족도를 조사하는 경우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125" y="3802063"/>
            <a:ext cx="6127750" cy="225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다원 분산분석(multi-way ANOVA)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세 가지 이상의 요인을 기준으로 집단 간의 차이를 조사하는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Ex. 편의점의 종류와 상권, 본사 국가를 기준으로 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 편의점에 대한 고객의 만족도를 조사하는 경우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350" y="3594101"/>
            <a:ext cx="6038850" cy="294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다변량 분산분석(multi-variate ANOVA)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독립변수 1개 이상에 대해 종속변수 2개 이상으로 조사하는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Ex. 편의점의 종류를 독립변수로 구성하고, 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 종속변수로 고객의 만족도와 재방문율 2개로 구성하여 조사를 하는 경우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0" y="3933826"/>
            <a:ext cx="5202238" cy="163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분산분석의 구분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분산분석은 3개 이상의 집단에 대한 평균 차이를 알아보는 검정으로, 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독립변수와 종속변수의 개수에 따라 다음과 같이 구분된다.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1" y="3213100"/>
            <a:ext cx="8424863" cy="17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분산분석의 가정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0" sz="700">
              <a:solidFill>
                <a:schemeClr val="dk1"/>
              </a:solidFill>
            </a:endParaRPr>
          </a:p>
          <a:p>
            <a:pPr indent="-190500" lvl="0" marL="368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</a:rPr>
              <a:t>각 모집단은 정규분포를 이루어야 한다.</a:t>
            </a:r>
            <a:endParaRPr/>
          </a:p>
          <a:p>
            <a:pPr indent="-190500" lvl="0" marL="368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</a:rPr>
              <a:t>집단 간 분산은 서로 동일해야 한다.</a:t>
            </a:r>
            <a:endParaRPr/>
          </a:p>
          <a:p>
            <a:pPr indent="-190500" lvl="0" marL="368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</a:rPr>
              <a:t>각 표본은 독립적으로 추출되어야 한다.</a:t>
            </a:r>
            <a:endParaRPr/>
          </a:p>
          <a:p>
            <a:pPr indent="-190500" lvl="0" marL="368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</a:rPr>
              <a:t>각 표본의 크기는 적절해야 한다.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752128" y="1066801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0338" lvl="0" marL="1603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모집단은 정규분포를 이루어야 한다.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752128" y="1762178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표본으로 모집단 간의 평균차이를 추정하는 것이므로,</a:t>
            </a:r>
            <a:endParaRPr/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모집단은 정규분포를 구성해야 한다.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752128" y="1066801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0338" lvl="0" marL="1603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간 분산은 서로 동일해야 한다.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752128" y="1762178"/>
            <a:ext cx="10032504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간 비교를 할 때 분산이 동일하지 않으면 집단 간의 평균 차이를 구별하기가 쉽지 않다.</a:t>
            </a:r>
            <a:endParaRPr/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분산분석 역시 집단 간 의 평균 비교이므로 등분산을 이루어야 한다.</a:t>
            </a:r>
            <a:endParaRPr/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분산분석은 집단이 3개 이상일 때 사용하는 분석 방법이므로 분산이 다르면 계산하기 어렵다.</a:t>
            </a:r>
            <a:endParaRPr/>
          </a:p>
        </p:txBody>
      </p:sp>
      <p:pic>
        <p:nvPicPr>
          <p:cNvPr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1784" y="3688807"/>
            <a:ext cx="3888432" cy="2980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752128" y="1066801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0338" lvl="0" marL="1603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표본은 독립적으로 추출되어야 한다.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752128" y="1762178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표본을 구성하는 과정에서 각각의 표본은 모두 독립적으로 구성되어야 한다.</a:t>
            </a:r>
            <a:endParaRPr/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🡪 표본을 구성하는 과정에서 어느 집단이 다른 집단에 영향을 주지 않아야 한다.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분산분석의 구분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752128" y="1066801"/>
            <a:ext cx="8642350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0338" lvl="0" marL="1603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표본의 크기는 적절해야 한다.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752128" y="1762178"/>
            <a:ext cx="9528448" cy="44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분석을 진행하기 위해서는 표본의 크기가 충분해야 한다. </a:t>
            </a:r>
            <a:endParaRPr/>
          </a:p>
          <a:p>
            <a:pPr indent="-285750" lvl="0" marL="4159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통계학 전체에 적용되는 기준인  ‘충분성’과 연결되는 가정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4159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01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집단 간 표본 크기에 차이가 많이 난다면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159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편의가 발생할 수 있기에 적절한 연구조사가 되기 힘들지만,</a:t>
            </a:r>
            <a:endParaRPr/>
          </a:p>
          <a:p>
            <a:pPr indent="-171450" lvl="0" marL="4159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41592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🡪"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모든 집단에서 표본이 충분하게 추출되었다면 분산분석을 실시할 때</a:t>
            </a:r>
            <a:b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표본의 개수에 상관없이 분석을 진행할 수 있다.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2279650" y="1484784"/>
            <a:ext cx="4833938" cy="83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일원 분산분석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2247900" y="2349500"/>
            <a:ext cx="78803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총편차 | 집단 간 편차 | 집단 내 편차 | 평균제곱 | 결과 해석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과정</a:t>
            </a:r>
            <a:endParaRPr/>
          </a:p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편의점별 만족도 측정 데이터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1" y="1749425"/>
            <a:ext cx="453707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6994526" y="3587751"/>
            <a:ext cx="36734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편의점에 대한 소비자 만족도에 차이가 있는지를 α=0.05의 수준에서 알아보자.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과정</a:t>
            </a:r>
            <a:endParaRPr/>
          </a:p>
        </p:txBody>
      </p:sp>
      <p:sp>
        <p:nvSpPr>
          <p:cNvPr id="201" name="Google Shape;201;p21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5920" y="2924944"/>
            <a:ext cx="1296144" cy="295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5600" y="3790930"/>
            <a:ext cx="6408712" cy="73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과정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5755" y="2680758"/>
            <a:ext cx="6840489" cy="393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편차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총편차(Sum of Squares Total : SST)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관측된 자료에 대한 전체 평균과의 차이의 제곱합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24개 측청치에 대해 총편차를 구하면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714" y="2420938"/>
            <a:ext cx="28797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576" y="3984624"/>
            <a:ext cx="7920880" cy="28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/>
          <p:nvPr/>
        </p:nvSpPr>
        <p:spPr>
          <a:xfrm>
            <a:off x="9769315" y="3864123"/>
            <a:ext cx="1512439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13.958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편차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집단 간 편차(Sum of Squares Between samples : SSB)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해당 집단에서 측정된 평균에 대한 전체 평균 차이의 제곱합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🡪 집단 간 편차를 확인하는 이유는</a:t>
            </a:r>
            <a:br>
              <a:rPr b="0" lang="ko-KR" sz="1800">
                <a:solidFill>
                  <a:schemeClr val="dk1"/>
                </a:solidFill>
              </a:rPr>
            </a:br>
            <a:r>
              <a:rPr b="0" lang="ko-KR" sz="1800">
                <a:solidFill>
                  <a:schemeClr val="dk1"/>
                </a:solidFill>
              </a:rPr>
              <a:t>       해당 집단의 대표값인 평균을 이용하여 전체의 평균과 비교하기 위해서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편의점 A, B, C에 대한 집단 간 편차를 구하면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1704" y="3152775"/>
            <a:ext cx="2664296" cy="42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5639" y="4701526"/>
            <a:ext cx="7561535" cy="29911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/>
          <p:nvPr/>
        </p:nvSpPr>
        <p:spPr>
          <a:xfrm>
            <a:off x="9985549" y="4588289"/>
            <a:ext cx="1512439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4.879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5229550" y="3386525"/>
            <a:ext cx="245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편차</a:t>
            </a:r>
            <a:endParaRPr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1774825" y="1066800"/>
            <a:ext cx="8642350" cy="5674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집단 내 편차(Sum of Squares Within samples : SSW)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집단 내에서 측정된 자료에 대한 집단 평균 차이의 제곱합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🡪 집단 내 편차를 확인하는 이유는 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    동일한 집단에서 발생한 측청치의 편차를 측정해 통제가 가능하지 않은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    외부 변수를 고려하기 위한 것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      </a:t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0371" y="3645024"/>
            <a:ext cx="3131258" cy="430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편차</a:t>
            </a:r>
            <a:endParaRPr/>
          </a:p>
        </p:txBody>
      </p:sp>
      <p:sp>
        <p:nvSpPr>
          <p:cNvPr id="242" name="Google Shape;242;p26"/>
          <p:cNvSpPr txBox="1"/>
          <p:nvPr>
            <p:ph idx="1" type="body"/>
          </p:nvPr>
        </p:nvSpPr>
        <p:spPr>
          <a:xfrm>
            <a:off x="1774825" y="1066800"/>
            <a:ext cx="8642350" cy="56745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lang="ko-KR"/>
              <a:t> </a:t>
            </a:r>
            <a:endParaRPr/>
          </a:p>
        </p:txBody>
      </p:sp>
      <p:pic>
        <p:nvPicPr>
          <p:cNvPr id="243" name="Google Shape;24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5640" y="2564904"/>
            <a:ext cx="6716315" cy="130562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/>
          <p:nvPr/>
        </p:nvSpPr>
        <p:spPr>
          <a:xfrm>
            <a:off x="8904736" y="2420888"/>
            <a:ext cx="1512439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4.857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편차</a:t>
            </a:r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712" y="2220161"/>
            <a:ext cx="5184576" cy="120883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/>
          <p:nvPr/>
        </p:nvSpPr>
        <p:spPr>
          <a:xfrm>
            <a:off x="5087888" y="3166208"/>
            <a:ext cx="1512439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4.879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2990055" y="3166207"/>
            <a:ext cx="1512439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13.958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sp>
        <p:nvSpPr>
          <p:cNvPr id="258" name="Google Shape;258;p28"/>
          <p:cNvSpPr txBox="1"/>
          <p:nvPr>
            <p:ph idx="1" type="body"/>
          </p:nvPr>
        </p:nvSpPr>
        <p:spPr>
          <a:xfrm>
            <a:off x="1774825" y="1066801"/>
            <a:ext cx="8642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어떤 값을 비교할 때 가장 기본이 되는 값은 평균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2032000" y="1829172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편차를 자유도로 나누면 편차의 평균이 되는데, 각 편차는 각기 다른 자유도를 가진다. 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2351584" y="2909292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5369" l="-681" r="0" t="-8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61" name="Google Shape;261;p28"/>
          <p:cNvSpPr txBox="1"/>
          <p:nvPr/>
        </p:nvSpPr>
        <p:spPr>
          <a:xfrm>
            <a:off x="2351584" y="4153892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결국 집단 간/내의 편차(제곱합)을 자유도로 나누면 분산이 되므로, 이를 분산분석이라 한다.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2032000" y="1556792"/>
            <a:ext cx="8039100" cy="10957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2063552" y="2765276"/>
            <a:ext cx="8039100" cy="10957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8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638" y="3744846"/>
            <a:ext cx="6069659" cy="99798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1774825" y="1066801"/>
            <a:ext cx="8642350" cy="5238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418" l="-7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2032000" y="1829177"/>
            <a:ext cx="8039100" cy="13152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975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1774825" y="1066801"/>
            <a:ext cx="8642350" cy="5238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418" l="-77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2032000" y="1829172"/>
            <a:ext cx="8039100" cy="7357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284" name="Google Shape;284;p31"/>
          <p:cNvSpPr txBox="1"/>
          <p:nvPr/>
        </p:nvSpPr>
        <p:spPr>
          <a:xfrm>
            <a:off x="2032000" y="4152838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표본비율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5" name="Google Shape;28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9656" y="2396345"/>
            <a:ext cx="3880494" cy="479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9656" y="3139017"/>
            <a:ext cx="4248472" cy="479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3792" y="4139853"/>
            <a:ext cx="2034406" cy="55483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1"/>
          <p:cNvSpPr/>
          <p:nvPr/>
        </p:nvSpPr>
        <p:spPr>
          <a:xfrm>
            <a:off x="5793037" y="2355965"/>
            <a:ext cx="3543052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4.879   / 2 = 2.439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4787838" y="3839713"/>
            <a:ext cx="906314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2.439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5730889" y="4139430"/>
            <a:ext cx="906314" cy="5255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5.642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1774825" y="1066801"/>
            <a:ext cx="8642350" cy="706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일원 분산분석표</a:t>
            </a:r>
            <a:endParaRPr/>
          </a:p>
          <a:p>
            <a:pPr indent="-1270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270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2032000" y="3645024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5949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298" name="Google Shape;29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576" y="1988840"/>
            <a:ext cx="8496944" cy="1293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304" name="Google Shape;3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250" y="1457325"/>
            <a:ext cx="9009396" cy="254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310" name="Google Shape;3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3393468"/>
            <a:ext cx="4600575" cy="280926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4"/>
          <p:cNvSpPr txBox="1"/>
          <p:nvPr/>
        </p:nvSpPr>
        <p:spPr>
          <a:xfrm>
            <a:off x="1774825" y="1066801"/>
            <a:ext cx="8642350" cy="706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 채택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2032000" y="1644774"/>
            <a:ext cx="8039100" cy="9841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975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318" name="Google Shape;3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2263" y="1252205"/>
            <a:ext cx="6167438" cy="360429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/>
          <p:nvPr/>
        </p:nvSpPr>
        <p:spPr>
          <a:xfrm>
            <a:off x="2326529" y="5085184"/>
            <a:ext cx="7736413" cy="14219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861" l="-708" r="0" t="-4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 (Excel 계산 결과)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25" name="Google Shape;32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650" y="1125539"/>
            <a:ext cx="7704138" cy="55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331" name="Google Shape;3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488" y="1609725"/>
            <a:ext cx="9505056" cy="248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분산분석의 결과 해석</a:t>
            </a:r>
            <a:endParaRPr/>
          </a:p>
        </p:txBody>
      </p:sp>
      <p:pic>
        <p:nvPicPr>
          <p:cNvPr id="337" name="Google Shape;3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584" y="1052736"/>
            <a:ext cx="7200800" cy="5702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</a:t>
            </a:r>
            <a:endParaRPr/>
          </a:p>
        </p:txBody>
      </p:sp>
      <p:pic>
        <p:nvPicPr>
          <p:cNvPr id="343" name="Google Shape;34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556792"/>
            <a:ext cx="9001694" cy="958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49" name="Google Shape;3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96751"/>
            <a:ext cx="9145710" cy="4282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55" name="Google Shape;35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96752"/>
            <a:ext cx="9001694" cy="420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 (예제 Excel 풀이_완성)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61" name="Google Shape;3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24744"/>
            <a:ext cx="9001694" cy="49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일원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367" name="Google Shape;3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0548" y="4229848"/>
            <a:ext cx="6719639" cy="214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515" y="1036861"/>
            <a:ext cx="5028034" cy="46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4"/>
          <p:cNvSpPr/>
          <p:nvPr/>
        </p:nvSpPr>
        <p:spPr>
          <a:xfrm>
            <a:off x="2279650" y="1371997"/>
            <a:ext cx="4833374" cy="83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이원 분산분석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44"/>
          <p:cNvSpPr txBox="1"/>
          <p:nvPr/>
        </p:nvSpPr>
        <p:spPr>
          <a:xfrm>
            <a:off x="3377101" y="3244850"/>
            <a:ext cx="69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0">
                <a:solidFill>
                  <a:srgbClr val="FF66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:: Keywords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상호작용 효과 | 결과 해석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</a:t>
            </a:r>
            <a:endParaRPr/>
          </a:p>
        </p:txBody>
      </p:sp>
      <p:pic>
        <p:nvPicPr>
          <p:cNvPr id="380" name="Google Shape;3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412776"/>
            <a:ext cx="8857678" cy="4085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상호작용 효과</a:t>
            </a:r>
            <a:endParaRPr/>
          </a:p>
        </p:txBody>
      </p:sp>
      <p:sp>
        <p:nvSpPr>
          <p:cNvPr id="386" name="Google Shape;386;p46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ko-KR">
                <a:solidFill>
                  <a:schemeClr val="dk1"/>
                </a:solidFill>
              </a:rPr>
              <a:t>상호작용 효과(interaction effect)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ko-KR" sz="1800">
                <a:solidFill>
                  <a:schemeClr val="dk1"/>
                </a:solidFill>
              </a:rPr>
              <a:t>상호작용 효과는 두 개의 독립변수가 동시에 작용하여 종속변수에 미치게 되는 영향을 말한다.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pic>
        <p:nvPicPr>
          <p:cNvPr id="387" name="Google Shape;38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551" y="3141664"/>
            <a:ext cx="7089775" cy="28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pic>
        <p:nvPicPr>
          <p:cNvPr id="393" name="Google Shape;3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1904" y="2882850"/>
            <a:ext cx="5092948" cy="335446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7"/>
          <p:cNvSpPr txBox="1"/>
          <p:nvPr/>
        </p:nvSpPr>
        <p:spPr>
          <a:xfrm>
            <a:off x="2032000" y="1268760"/>
            <a:ext cx="8039100" cy="984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원인이 되는 변수(독립변수)는 3개의 편의점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38100" lvl="0" marL="309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3개의 상권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결과가 되는 변수(종속변수)는 소비자의 만족도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47"/>
          <p:cNvSpPr txBox="1"/>
          <p:nvPr/>
        </p:nvSpPr>
        <p:spPr>
          <a:xfrm>
            <a:off x="2032000" y="2780928"/>
            <a:ext cx="2911872" cy="9841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9380" l="-1673" r="0" t="-6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sp>
        <p:nvSpPr>
          <p:cNvPr id="401" name="Google Shape;401;p48"/>
          <p:cNvSpPr txBox="1"/>
          <p:nvPr/>
        </p:nvSpPr>
        <p:spPr>
          <a:xfrm>
            <a:off x="1774825" y="1066801"/>
            <a:ext cx="8642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 수립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48"/>
          <p:cNvSpPr txBox="1"/>
          <p:nvPr/>
        </p:nvSpPr>
        <p:spPr>
          <a:xfrm>
            <a:off x="2032000" y="1700808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조사의 목적이 편의점별, 상권별 두 독립변수에 대해 소비자 만족도에 차이가 있는지에 맞춰져 있으므로 가설은 기본적으로 2개이고 상호작용을 생각하면 총 3개의 가설을 수립할 수 있다. 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48"/>
          <p:cNvSpPr txBox="1"/>
          <p:nvPr/>
        </p:nvSpPr>
        <p:spPr>
          <a:xfrm>
            <a:off x="2032000" y="5357564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이와 같이 정의하였다면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4" name="Google Shape;40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2355" y="2996952"/>
            <a:ext cx="7448745" cy="208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sp>
        <p:nvSpPr>
          <p:cNvPr id="410" name="Google Shape;410;p49"/>
          <p:cNvSpPr txBox="1"/>
          <p:nvPr/>
        </p:nvSpPr>
        <p:spPr>
          <a:xfrm>
            <a:off x="2032000" y="1325116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가설을 다음과 같이 나타낼 수 있다. </a:t>
            </a:r>
            <a:endParaRPr/>
          </a:p>
        </p:txBody>
      </p:sp>
      <p:pic>
        <p:nvPicPr>
          <p:cNvPr id="411" name="Google Shape;41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592" y="2056656"/>
            <a:ext cx="7647508" cy="308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sp>
        <p:nvSpPr>
          <p:cNvPr id="417" name="Google Shape;417;p50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자료 구성</a:t>
            </a:r>
            <a:endParaRPr/>
          </a:p>
        </p:txBody>
      </p:sp>
      <p:pic>
        <p:nvPicPr>
          <p:cNvPr id="418" name="Google Shape;4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4776" y="1600268"/>
            <a:ext cx="6272213" cy="478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sp>
        <p:nvSpPr>
          <p:cNvPr id="424" name="Google Shape;424;p51"/>
          <p:cNvSpPr txBox="1"/>
          <p:nvPr/>
        </p:nvSpPr>
        <p:spPr>
          <a:xfrm>
            <a:off x="2032000" y="1325116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이원 분산분석에서도 평균 차이를 확인하기 위하여 총편차를 확인하면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이원 분산분석의 편차들 사이에는 다음이 성립한다.</a:t>
            </a:r>
            <a:endParaRPr/>
          </a:p>
        </p:txBody>
      </p:sp>
      <p:pic>
        <p:nvPicPr>
          <p:cNvPr id="425" name="Google Shape;425;p51"/>
          <p:cNvPicPr preferRelativeResize="0"/>
          <p:nvPr/>
        </p:nvPicPr>
        <p:blipFill rotWithShape="1">
          <a:blip r:embed="rId3">
            <a:alphaModFix/>
          </a:blip>
          <a:srcRect b="69823" l="0" r="0" t="13643"/>
          <a:stretch/>
        </p:blipFill>
        <p:spPr>
          <a:xfrm>
            <a:off x="2135188" y="2132856"/>
            <a:ext cx="78486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 txBox="1"/>
          <p:nvPr/>
        </p:nvSpPr>
        <p:spPr>
          <a:xfrm>
            <a:off x="2032000" y="3275113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각각의 편차는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p51"/>
          <p:cNvSpPr txBox="1"/>
          <p:nvPr/>
        </p:nvSpPr>
        <p:spPr>
          <a:xfrm>
            <a:off x="2032000" y="6005636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0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자유도는 </a:t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28" name="Google Shape;42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5680" y="6093296"/>
            <a:ext cx="6336060" cy="25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3753" y="3249147"/>
            <a:ext cx="3353844" cy="236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과정</a:t>
            </a:r>
            <a:endParaRPr/>
          </a:p>
        </p:txBody>
      </p:sp>
      <p:sp>
        <p:nvSpPr>
          <p:cNvPr id="435" name="Google Shape;435;p52"/>
          <p:cNvSpPr txBox="1"/>
          <p:nvPr/>
        </p:nvSpPr>
        <p:spPr>
          <a:xfrm>
            <a:off x="2032000" y="1325116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편차를 구하면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6" name="Google Shape;43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0611" y="2060848"/>
            <a:ext cx="8703719" cy="244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5375" y="5409059"/>
            <a:ext cx="6034881" cy="405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43" name="Google Shape;443;p53"/>
          <p:cNvSpPr txBox="1"/>
          <p:nvPr/>
        </p:nvSpPr>
        <p:spPr>
          <a:xfrm>
            <a:off x="2032000" y="1325116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741" l="-606" r="0" t="-8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444" name="Google Shape;44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259" y="2852936"/>
            <a:ext cx="5339482" cy="1281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50" name="Google Shape;450;p54"/>
          <p:cNvSpPr txBox="1"/>
          <p:nvPr/>
        </p:nvSpPr>
        <p:spPr>
          <a:xfrm>
            <a:off x="2032000" y="1325116"/>
            <a:ext cx="8039100" cy="73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평균제곱을 구하면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1" name="Google Shape;45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5680" y="1988840"/>
            <a:ext cx="5904656" cy="1130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2000" y="3849240"/>
            <a:ext cx="8528496" cy="210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5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58" name="Google Shape;458;p55"/>
          <p:cNvSpPr txBox="1"/>
          <p:nvPr>
            <p:ph idx="1" type="body"/>
          </p:nvPr>
        </p:nvSpPr>
        <p:spPr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ko-KR"/>
              <a:t>가설 채택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2032000" y="1722698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249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65" name="Google Shape;465;p56"/>
          <p:cNvSpPr txBox="1"/>
          <p:nvPr/>
        </p:nvSpPr>
        <p:spPr>
          <a:xfrm>
            <a:off x="1774825" y="1066801"/>
            <a:ext cx="86423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 채택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56"/>
          <p:cNvSpPr txBox="1"/>
          <p:nvPr/>
        </p:nvSpPr>
        <p:spPr>
          <a:xfrm>
            <a:off x="2032000" y="1722698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67" name="Google Shape;467;p56"/>
          <p:cNvSpPr txBox="1"/>
          <p:nvPr/>
        </p:nvSpPr>
        <p:spPr>
          <a:xfrm>
            <a:off x="2032000" y="2993592"/>
            <a:ext cx="8039100" cy="7357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75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468" name="Google Shape;468;p56"/>
          <p:cNvGrpSpPr/>
          <p:nvPr/>
        </p:nvGrpSpPr>
        <p:grpSpPr>
          <a:xfrm>
            <a:off x="3133729" y="3476956"/>
            <a:ext cx="2971800" cy="384093"/>
            <a:chOff x="4388803" y="3100388"/>
            <a:chExt cx="5085081" cy="657225"/>
          </a:xfrm>
        </p:grpSpPr>
        <p:pic>
          <p:nvPicPr>
            <p:cNvPr id="469" name="Google Shape;469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88803" y="3100388"/>
              <a:ext cx="561975" cy="65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59534" y="3143250"/>
              <a:ext cx="514350" cy="57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1" name="Google Shape;471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5600" y="4673679"/>
            <a:ext cx="6984776" cy="828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7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77" name="Google Shape;477;p57"/>
          <p:cNvSpPr txBox="1"/>
          <p:nvPr/>
        </p:nvSpPr>
        <p:spPr>
          <a:xfrm>
            <a:off x="1774825" y="1066801"/>
            <a:ext cx="86423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 채택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57"/>
          <p:cNvSpPr txBox="1"/>
          <p:nvPr/>
        </p:nvSpPr>
        <p:spPr>
          <a:xfrm>
            <a:off x="2032000" y="1722698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79" name="Google Shape;479;p57"/>
          <p:cNvSpPr txBox="1"/>
          <p:nvPr/>
        </p:nvSpPr>
        <p:spPr>
          <a:xfrm>
            <a:off x="2032000" y="2993592"/>
            <a:ext cx="8039100" cy="7357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75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480" name="Google Shape;48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730" y="3476956"/>
            <a:ext cx="328427" cy="384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2693" y="4689992"/>
            <a:ext cx="6846614" cy="84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8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</a:t>
            </a:r>
            <a:endParaRPr/>
          </a:p>
        </p:txBody>
      </p:sp>
      <p:sp>
        <p:nvSpPr>
          <p:cNvPr id="487" name="Google Shape;487;p58"/>
          <p:cNvSpPr txBox="1"/>
          <p:nvPr/>
        </p:nvSpPr>
        <p:spPr>
          <a:xfrm>
            <a:off x="1774825" y="1066801"/>
            <a:ext cx="86423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■"/>
            </a:pPr>
            <a:r>
              <a:rPr b="1" lang="ko-KR" sz="220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가설 채택</a:t>
            </a:r>
            <a:endParaRPr b="1" sz="2200">
              <a:solidFill>
                <a:srgbClr val="E36C0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None/>
            </a:pPr>
            <a:r>
              <a:t/>
            </a:r>
            <a:endParaRPr b="0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58"/>
          <p:cNvSpPr txBox="1"/>
          <p:nvPr/>
        </p:nvSpPr>
        <p:spPr>
          <a:xfrm>
            <a:off x="2032000" y="1722698"/>
            <a:ext cx="8039100" cy="7357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0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89" name="Google Shape;489;p58"/>
          <p:cNvSpPr txBox="1"/>
          <p:nvPr/>
        </p:nvSpPr>
        <p:spPr>
          <a:xfrm>
            <a:off x="2032000" y="2993592"/>
            <a:ext cx="8039100" cy="7357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9750" l="-6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pic>
        <p:nvPicPr>
          <p:cNvPr id="490" name="Google Shape;49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730" y="3476956"/>
            <a:ext cx="328427" cy="384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7608" y="4437112"/>
            <a:ext cx="7632848" cy="775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분산분석의 결과 해석(Excel 계산 결과)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497" name="Google Shape;49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24744"/>
            <a:ext cx="8857678" cy="544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0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</a:t>
            </a:r>
            <a:endParaRPr/>
          </a:p>
        </p:txBody>
      </p:sp>
      <p:pic>
        <p:nvPicPr>
          <p:cNvPr id="503" name="Google Shape;5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412775"/>
            <a:ext cx="9001694" cy="969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09" name="Google Shape;50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96752"/>
            <a:ext cx="8929686" cy="4395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2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15" name="Google Shape;51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124744"/>
            <a:ext cx="9012174" cy="439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21" name="Google Shape;521;p63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205010" y="1111821"/>
            <a:ext cx="5894387" cy="4337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3"/>
          <p:cNvPicPr preferRelativeResize="0"/>
          <p:nvPr/>
        </p:nvPicPr>
        <p:blipFill rotWithShape="1">
          <a:blip r:embed="rId3">
            <a:alphaModFix/>
          </a:blip>
          <a:srcRect b="-136" l="0" r="0" t="49653"/>
          <a:stretch/>
        </p:blipFill>
        <p:spPr>
          <a:xfrm>
            <a:off x="6168008" y="2204864"/>
            <a:ext cx="5894387" cy="4379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4"/>
          <p:cNvSpPr txBox="1"/>
          <p:nvPr>
            <p:ph type="title"/>
          </p:nvPr>
        </p:nvSpPr>
        <p:spPr>
          <a:xfrm>
            <a:off x="1774826" y="188914"/>
            <a:ext cx="7561263" cy="54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C00000"/>
                </a:solidFill>
              </a:rPr>
              <a:t>이원 분산분석 (예제 Excel 풀이)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528" name="Google Shape;528;p64"/>
          <p:cNvPicPr preferRelativeResize="0"/>
          <p:nvPr/>
        </p:nvPicPr>
        <p:blipFill rotWithShape="1">
          <a:blip r:embed="rId3">
            <a:alphaModFix/>
          </a:blip>
          <a:srcRect b="0" l="0" r="0" t="17451"/>
          <a:stretch/>
        </p:blipFill>
        <p:spPr>
          <a:xfrm>
            <a:off x="6096000" y="1007838"/>
            <a:ext cx="5708483" cy="566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64"/>
          <p:cNvPicPr preferRelativeResize="0"/>
          <p:nvPr/>
        </p:nvPicPr>
        <p:blipFill rotWithShape="1">
          <a:blip r:embed="rId3">
            <a:alphaModFix/>
          </a:blip>
          <a:srcRect b="83200" l="0" r="0" t="0"/>
          <a:stretch/>
        </p:blipFill>
        <p:spPr>
          <a:xfrm>
            <a:off x="334963" y="1007838"/>
            <a:ext cx="5708483" cy="115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2012-07-11T10:23:22Z</dcterms:created>
  <dc:creator>daaep@naver.com</dc:creator>
</cp:coreProperties>
</file>