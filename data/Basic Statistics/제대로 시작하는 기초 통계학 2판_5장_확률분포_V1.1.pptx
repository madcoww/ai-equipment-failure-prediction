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9">
          <p15:clr>
            <a:srgbClr val="A4A3A4"/>
          </p15:clr>
        </p15:guide>
        <p15:guide id="2" pos="211">
          <p15:clr>
            <a:srgbClr val="A4A3A4"/>
          </p15:clr>
        </p15:guide>
      </p15:sldGuideLst>
    </p:ext>
    <p:ext uri="GoogleSlidesCustomDataVersion2">
      <go:slidesCustomData xmlns:go="http://customooxmlschemas.google.com/" r:id="rId75" roundtripDataSignature="AMtx7mjhvnSikAo2T2UnwEj5eMvkVEs/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9" orient="horz"/>
        <p:guide pos="21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저작권">
  <p:cSld name="저작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1"/>
          <p:cNvSpPr txBox="1"/>
          <p:nvPr/>
        </p:nvSpPr>
        <p:spPr>
          <a:xfrm>
            <a:off x="833967" y="981075"/>
            <a:ext cx="9582151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제대로 시작하는 기초 통계학 2판 : Excel 활용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7;p71"/>
          <p:cNvSpPr txBox="1"/>
          <p:nvPr/>
        </p:nvSpPr>
        <p:spPr>
          <a:xfrm>
            <a:off x="812801" y="1700213"/>
            <a:ext cx="10655300" cy="107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</a:t>
            </a:r>
            <a:r>
              <a:rPr b="1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노경섭</a:t>
            </a: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b="1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한빛아카데미㈜</a:t>
            </a: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있습니다.</a:t>
            </a:r>
            <a:r>
              <a:rPr b="0" i="0" lang="ko-KR" sz="1000" u="none" cap="none" strike="noStrik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000" u="none" cap="none" strike="noStrik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Char char="•"/>
            </a:pPr>
            <a:r>
              <a:rPr b="0" i="0" lang="ko-KR" sz="1000" u="sng" cap="none" strike="noStrik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벌금에 처할 수 있고 이를 병과(倂科)할 수도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1"/>
          <p:cNvSpPr/>
          <p:nvPr/>
        </p:nvSpPr>
        <p:spPr>
          <a:xfrm>
            <a:off x="425451" y="404814"/>
            <a:ext cx="11330516" cy="6048375"/>
          </a:xfrm>
          <a:prstGeom prst="roundRect">
            <a:avLst>
              <a:gd fmla="val 8163" name="adj"/>
            </a:avLst>
          </a:prstGeom>
          <a:noFill/>
          <a:ln cap="flat" cmpd="sng" w="539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C:\Documents and Settings\hanb\바탕 화면\한빛아카데미.bmp" id="19" name="Google Shape;19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49317" y="5927725"/>
            <a:ext cx="2123016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">
  <p:cSld name="제목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72"/>
          <p:cNvPicPr preferRelativeResize="0"/>
          <p:nvPr/>
        </p:nvPicPr>
        <p:blipFill rotWithShape="1">
          <a:blip r:embed="rId2">
            <a:alphaModFix/>
          </a:blip>
          <a:srcRect b="0" l="0" r="311" t="0"/>
          <a:stretch/>
        </p:blipFill>
        <p:spPr>
          <a:xfrm>
            <a:off x="1" y="0"/>
            <a:ext cx="12192000" cy="685733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72"/>
          <p:cNvSpPr/>
          <p:nvPr/>
        </p:nvSpPr>
        <p:spPr>
          <a:xfrm>
            <a:off x="565403" y="5742408"/>
            <a:ext cx="1028455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00" u="none" cap="none" strike="noStrike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200" u="none" cap="none" strike="noStrike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1" i="0" sz="3200" u="none" cap="none" strike="noStrike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2"/>
          <p:cNvSpPr/>
          <p:nvPr/>
        </p:nvSpPr>
        <p:spPr>
          <a:xfrm>
            <a:off x="1847528" y="5711630"/>
            <a:ext cx="4023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5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확률분포</a:t>
            </a:r>
            <a:endParaRPr b="1" i="0" sz="5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24;p72"/>
          <p:cNvSpPr/>
          <p:nvPr/>
        </p:nvSpPr>
        <p:spPr>
          <a:xfrm>
            <a:off x="4791059" y="6039201"/>
            <a:ext cx="33931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Probability Distribution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3"/>
          <p:cNvSpPr/>
          <p:nvPr/>
        </p:nvSpPr>
        <p:spPr>
          <a:xfrm>
            <a:off x="0" y="-22224"/>
            <a:ext cx="12192000" cy="555625"/>
          </a:xfrm>
          <a:prstGeom prst="rect">
            <a:avLst/>
          </a:prstGeom>
          <a:solidFill>
            <a:srgbClr val="B3E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481C1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Google Shape;27;p73"/>
          <p:cNvSpPr txBox="1"/>
          <p:nvPr>
            <p:ph type="title"/>
          </p:nvPr>
        </p:nvSpPr>
        <p:spPr>
          <a:xfrm>
            <a:off x="84667" y="35744"/>
            <a:ext cx="10380133" cy="474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4"/>
          <p:cNvSpPr/>
          <p:nvPr/>
        </p:nvSpPr>
        <p:spPr>
          <a:xfrm>
            <a:off x="0" y="647700"/>
            <a:ext cx="12192000" cy="6210300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481C1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0" name="Google Shape;30;p74"/>
          <p:cNvGrpSpPr/>
          <p:nvPr/>
        </p:nvGrpSpPr>
        <p:grpSpPr>
          <a:xfrm>
            <a:off x="7907867" y="44451"/>
            <a:ext cx="3626812" cy="523220"/>
            <a:chOff x="6685508" y="188640"/>
            <a:chExt cx="2721600" cy="521913"/>
          </a:xfrm>
        </p:grpSpPr>
        <p:sp>
          <p:nvSpPr>
            <p:cNvPr id="31" name="Google Shape;31;p74"/>
            <p:cNvSpPr/>
            <p:nvPr/>
          </p:nvSpPr>
          <p:spPr>
            <a:xfrm>
              <a:off x="8248464" y="188640"/>
              <a:ext cx="1158644" cy="521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800" u="none" cap="none" strike="noStrike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확률분포</a:t>
              </a:r>
              <a:endParaRPr/>
            </a:p>
          </p:txBody>
        </p:sp>
        <p:sp>
          <p:nvSpPr>
            <p:cNvPr id="32" name="Google Shape;32;p74"/>
            <p:cNvSpPr/>
            <p:nvPr/>
          </p:nvSpPr>
          <p:spPr>
            <a:xfrm>
              <a:off x="6685508" y="188640"/>
              <a:ext cx="1237170" cy="521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98480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Chapter </a:t>
              </a:r>
              <a:r>
                <a:rPr b="1" i="0" lang="ko-KR" sz="2800" u="none" cap="none" strike="noStrike">
                  <a:solidFill>
                    <a:srgbClr val="98480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05</a:t>
              </a:r>
              <a:endParaRPr b="1" i="0" sz="2800" u="none" cap="none" strike="noStrike">
                <a:solidFill>
                  <a:srgbClr val="98480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3" name="Google Shape;33;p74"/>
          <p:cNvSpPr/>
          <p:nvPr/>
        </p:nvSpPr>
        <p:spPr>
          <a:xfrm>
            <a:off x="0" y="587375"/>
            <a:ext cx="12192000" cy="10795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481C1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" name="Google Shape;34;p74"/>
          <p:cNvPicPr preferRelativeResize="0"/>
          <p:nvPr/>
        </p:nvPicPr>
        <p:blipFill rotWithShape="1">
          <a:blip r:embed="rId2">
            <a:alphaModFix/>
          </a:blip>
          <a:srcRect b="13762" l="59491" r="5121" t="68494"/>
          <a:stretch/>
        </p:blipFill>
        <p:spPr>
          <a:xfrm>
            <a:off x="7361767" y="5372100"/>
            <a:ext cx="4415367" cy="1354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t1_본문(이론)">
  <p:cSld name="part1_본문(이론)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75"/>
          <p:cNvCxnSpPr/>
          <p:nvPr/>
        </p:nvCxnSpPr>
        <p:spPr>
          <a:xfrm>
            <a:off x="1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75"/>
          <p:cNvCxnSpPr/>
          <p:nvPr/>
        </p:nvCxnSpPr>
        <p:spPr>
          <a:xfrm>
            <a:off x="3119967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9933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75"/>
          <p:cNvCxnSpPr/>
          <p:nvPr/>
        </p:nvCxnSpPr>
        <p:spPr>
          <a:xfrm>
            <a:off x="5952067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9933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75"/>
          <p:cNvCxnSpPr/>
          <p:nvPr/>
        </p:nvCxnSpPr>
        <p:spPr>
          <a:xfrm>
            <a:off x="9072034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CC66">
                <a:alpha val="2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75"/>
          <p:cNvSpPr/>
          <p:nvPr/>
        </p:nvSpPr>
        <p:spPr>
          <a:xfrm>
            <a:off x="11039012" y="6605588"/>
            <a:ext cx="112394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ko-KR" sz="12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/59</a:t>
            </a:r>
            <a:endParaRPr/>
          </a:p>
        </p:txBody>
      </p:sp>
      <p:sp>
        <p:nvSpPr>
          <p:cNvPr id="41" name="Google Shape;41;p75"/>
          <p:cNvSpPr txBox="1"/>
          <p:nvPr>
            <p:ph type="title"/>
          </p:nvPr>
        </p:nvSpPr>
        <p:spPr>
          <a:xfrm>
            <a:off x="334433" y="188913"/>
            <a:ext cx="10081120" cy="54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5"/>
          <p:cNvSpPr txBox="1"/>
          <p:nvPr>
            <p:ph idx="1" type="body"/>
          </p:nvPr>
        </p:nvSpPr>
        <p:spPr>
          <a:xfrm>
            <a:off x="334434" y="1052736"/>
            <a:ext cx="11522207" cy="547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  <a:defRPr b="1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▪"/>
              <a:defRPr b="1" sz="20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30200" lvl="2" marL="1371600" algn="l"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1600"/>
              <a:buChar char="•"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13944" lvl="3" marL="1828800" algn="l">
              <a:spcBef>
                <a:spcPts val="300"/>
              </a:spcBef>
              <a:spcAft>
                <a:spcPts val="0"/>
              </a:spcAft>
              <a:buClr>
                <a:srgbClr val="FF6600"/>
              </a:buClr>
              <a:buSzPts val="1344"/>
              <a:buChar char="–"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rgbClr val="00918E"/>
              </a:buClr>
              <a:buSzPts val="1400"/>
              <a:buChar char="»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끝">
  <p:cSld name="끝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6"/>
          <p:cNvSpPr txBox="1"/>
          <p:nvPr/>
        </p:nvSpPr>
        <p:spPr>
          <a:xfrm>
            <a:off x="7032104" y="1844824"/>
            <a:ext cx="4703233" cy="132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Q&amp;A</a:t>
            </a:r>
            <a:endParaRPr sz="8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1" name="Google Shape;11;p7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7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7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7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6.gif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42.png"/><Relationship Id="rId5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4.png"/><Relationship Id="rId4" Type="http://schemas.openxmlformats.org/officeDocument/2006/relationships/image" Target="../media/image7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74.png"/><Relationship Id="rId7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4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9.png"/><Relationship Id="rId4" Type="http://schemas.openxmlformats.org/officeDocument/2006/relationships/image" Target="../media/image7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0.png"/><Relationship Id="rId4" Type="http://schemas.openxmlformats.org/officeDocument/2006/relationships/image" Target="../media/image71.png"/><Relationship Id="rId9" Type="http://schemas.openxmlformats.org/officeDocument/2006/relationships/image" Target="../media/image81.png"/><Relationship Id="rId5" Type="http://schemas.openxmlformats.org/officeDocument/2006/relationships/image" Target="../media/image65.png"/><Relationship Id="rId6" Type="http://schemas.openxmlformats.org/officeDocument/2006/relationships/image" Target="../media/image89.png"/><Relationship Id="rId7" Type="http://schemas.openxmlformats.org/officeDocument/2006/relationships/image" Target="../media/image106.png"/><Relationship Id="rId8" Type="http://schemas.openxmlformats.org/officeDocument/2006/relationships/image" Target="../media/image6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7.png"/><Relationship Id="rId4" Type="http://schemas.openxmlformats.org/officeDocument/2006/relationships/image" Target="../media/image91.png"/><Relationship Id="rId5" Type="http://schemas.openxmlformats.org/officeDocument/2006/relationships/image" Target="../media/image93.png"/><Relationship Id="rId6" Type="http://schemas.openxmlformats.org/officeDocument/2006/relationships/image" Target="../media/image85.png"/><Relationship Id="rId7" Type="http://schemas.openxmlformats.org/officeDocument/2006/relationships/image" Target="../media/image7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9.png"/><Relationship Id="rId4" Type="http://schemas.openxmlformats.org/officeDocument/2006/relationships/image" Target="../media/image87.png"/><Relationship Id="rId11" Type="http://schemas.openxmlformats.org/officeDocument/2006/relationships/image" Target="../media/image113.png"/><Relationship Id="rId10" Type="http://schemas.openxmlformats.org/officeDocument/2006/relationships/image" Target="../media/image84.png"/><Relationship Id="rId9" Type="http://schemas.openxmlformats.org/officeDocument/2006/relationships/image" Target="../media/image76.png"/><Relationship Id="rId5" Type="http://schemas.openxmlformats.org/officeDocument/2006/relationships/image" Target="../media/image101.png"/><Relationship Id="rId6" Type="http://schemas.openxmlformats.org/officeDocument/2006/relationships/image" Target="../media/image95.png"/><Relationship Id="rId7" Type="http://schemas.openxmlformats.org/officeDocument/2006/relationships/image" Target="../media/image102.png"/><Relationship Id="rId8" Type="http://schemas.openxmlformats.org/officeDocument/2006/relationships/image" Target="../media/image8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2.png"/><Relationship Id="rId4" Type="http://schemas.openxmlformats.org/officeDocument/2006/relationships/image" Target="../media/image88.png"/><Relationship Id="rId5" Type="http://schemas.openxmlformats.org/officeDocument/2006/relationships/image" Target="../media/image100.png"/><Relationship Id="rId6" Type="http://schemas.openxmlformats.org/officeDocument/2006/relationships/image" Target="../media/image105.png"/><Relationship Id="rId7" Type="http://schemas.openxmlformats.org/officeDocument/2006/relationships/image" Target="../media/image10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9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0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9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0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1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1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1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0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6.png"/><Relationship Id="rId4" Type="http://schemas.openxmlformats.org/officeDocument/2006/relationships/image" Target="../media/image9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3"/>
          <p:cNvGrpSpPr/>
          <p:nvPr/>
        </p:nvGrpSpPr>
        <p:grpSpPr>
          <a:xfrm>
            <a:off x="2166938" y="3309939"/>
            <a:ext cx="6953250" cy="719137"/>
            <a:chOff x="643260" y="3173386"/>
            <a:chExt cx="6953076" cy="720000"/>
          </a:xfrm>
        </p:grpSpPr>
        <p:sp>
          <p:nvSpPr>
            <p:cNvPr id="59" name="Google Shape;59;p3"/>
            <p:cNvSpPr/>
            <p:nvPr/>
          </p:nvSpPr>
          <p:spPr>
            <a:xfrm>
              <a:off x="643260" y="3225836"/>
              <a:ext cx="728644" cy="608743"/>
            </a:xfrm>
            <a:prstGeom prst="snipRoundRect">
              <a:avLst>
                <a:gd fmla="val 29583" name="adj1"/>
                <a:gd fmla="val 0" name="adj2"/>
              </a:avLst>
            </a:prstGeom>
            <a:solidFill>
              <a:srgbClr val="FABF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754595" y="3294665"/>
              <a:ext cx="540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400" u="none" cap="none" strike="noStrike">
                  <a:solidFill>
                    <a:srgbClr val="0A1E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03</a:t>
              </a:r>
              <a:endParaRPr b="1" i="0" sz="24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359204" y="3173386"/>
              <a:ext cx="6237132" cy="720000"/>
            </a:xfrm>
            <a:prstGeom prst="roundRect">
              <a:avLst>
                <a:gd fmla="val 2291" name="adj"/>
              </a:avLst>
            </a:prstGeom>
            <a:solidFill>
              <a:srgbClr val="F2F2F2">
                <a:alpha val="32549"/>
              </a:srgbClr>
            </a:solidFill>
            <a:ln cap="flat" cmpd="sng" w="38100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496616" y="3318602"/>
              <a:ext cx="4824536" cy="402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242424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포아송분포</a:t>
              </a:r>
              <a:endParaRPr b="1" i="0" sz="20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3" name="Google Shape;63;p3"/>
          <p:cNvGrpSpPr/>
          <p:nvPr/>
        </p:nvGrpSpPr>
        <p:grpSpPr>
          <a:xfrm>
            <a:off x="2166938" y="1057275"/>
            <a:ext cx="6953250" cy="719138"/>
            <a:chOff x="643260" y="980728"/>
            <a:chExt cx="6953076" cy="720000"/>
          </a:xfrm>
        </p:grpSpPr>
        <p:sp>
          <p:nvSpPr>
            <p:cNvPr id="64" name="Google Shape;64;p3"/>
            <p:cNvSpPr/>
            <p:nvPr/>
          </p:nvSpPr>
          <p:spPr>
            <a:xfrm>
              <a:off x="643260" y="1033179"/>
              <a:ext cx="728644" cy="608741"/>
            </a:xfrm>
            <a:prstGeom prst="snipRoundRect">
              <a:avLst>
                <a:gd fmla="val 29583" name="adj1"/>
                <a:gd fmla="val 0" name="adj2"/>
              </a:avLst>
            </a:prstGeom>
            <a:solidFill>
              <a:srgbClr val="FABF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754594" y="1101879"/>
              <a:ext cx="540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400" u="none" cap="none" strike="noStrike">
                  <a:solidFill>
                    <a:srgbClr val="0A1E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1" i="0" sz="24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359204" y="980728"/>
              <a:ext cx="6237132" cy="720000"/>
            </a:xfrm>
            <a:prstGeom prst="roundRect">
              <a:avLst>
                <a:gd fmla="val 2291" name="adj"/>
              </a:avLst>
            </a:prstGeom>
            <a:solidFill>
              <a:srgbClr val="F2F2F2">
                <a:alpha val="32549"/>
              </a:srgbClr>
            </a:solidFill>
            <a:ln cap="flat" cmpd="sng" w="38100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1496616" y="1135069"/>
              <a:ext cx="4824536" cy="402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242424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확률분포</a:t>
              </a:r>
              <a:endParaRPr b="1" i="0" sz="20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8" name="Google Shape;68;p3"/>
          <p:cNvGrpSpPr/>
          <p:nvPr/>
        </p:nvGrpSpPr>
        <p:grpSpPr>
          <a:xfrm>
            <a:off x="2166938" y="2178051"/>
            <a:ext cx="6953250" cy="720725"/>
            <a:chOff x="643260" y="2077057"/>
            <a:chExt cx="6953076" cy="720000"/>
          </a:xfrm>
        </p:grpSpPr>
        <p:sp>
          <p:nvSpPr>
            <p:cNvPr id="69" name="Google Shape;69;p3"/>
            <p:cNvSpPr/>
            <p:nvPr/>
          </p:nvSpPr>
          <p:spPr>
            <a:xfrm>
              <a:off x="643260" y="2148423"/>
              <a:ext cx="728644" cy="608987"/>
            </a:xfrm>
            <a:prstGeom prst="snipRoundRect">
              <a:avLst>
                <a:gd fmla="val 29583" name="adj1"/>
                <a:gd fmla="val 0" name="adj2"/>
              </a:avLst>
            </a:prstGeom>
            <a:solidFill>
              <a:srgbClr val="FABF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1359204" y="2077057"/>
              <a:ext cx="6237132" cy="720000"/>
            </a:xfrm>
            <a:prstGeom prst="roundRect">
              <a:avLst>
                <a:gd fmla="val 2291" name="adj"/>
              </a:avLst>
            </a:prstGeom>
            <a:solidFill>
              <a:srgbClr val="F2F2F2">
                <a:alpha val="32549"/>
              </a:srgbClr>
            </a:solidFill>
            <a:ln cap="flat" cmpd="sng" w="38100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496616" y="2227029"/>
              <a:ext cx="4824536" cy="401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242424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이항분포</a:t>
              </a:r>
              <a:endParaRPr b="1" i="0" sz="20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2" name="Google Shape;72;p3"/>
          <p:cNvSpPr/>
          <p:nvPr/>
        </p:nvSpPr>
        <p:spPr>
          <a:xfrm>
            <a:off x="2279577" y="2319264"/>
            <a:ext cx="5405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1" i="0" sz="2400" u="none" cap="none" strike="noStrike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3"/>
          <p:cNvSpPr txBox="1"/>
          <p:nvPr>
            <p:ph type="title"/>
          </p:nvPr>
        </p:nvSpPr>
        <p:spPr>
          <a:xfrm>
            <a:off x="84667" y="35744"/>
            <a:ext cx="10380133" cy="474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목 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2279651" y="1299989"/>
            <a:ext cx="3443571" cy="835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4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확률분포</a:t>
            </a:r>
            <a:endParaRPr b="1" i="0" sz="4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3216276" y="2349500"/>
            <a:ext cx="69119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rgbClr val="FF66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:: Keywords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확률분포 | 균등분포 | 정규분포 | 표준정규분포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확률분포</a:t>
            </a:r>
            <a:endParaRPr/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8396" y="1124745"/>
            <a:ext cx="6155209" cy="5424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확률분포</a:t>
            </a:r>
            <a:endParaRPr/>
          </a:p>
        </p:txBody>
      </p:sp>
      <p:sp>
        <p:nvSpPr>
          <p:cNvPr id="91" name="Google Shape;91;p6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확률분포의 정의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확률분포(probability distribution)는 미래에 발생할 사건에 대해 확률을 나열한 것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🡪 확률분포는 그래프나 표로 나타낸다.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여러 가지 대안 가운데 하나를 선택해야 하는 경우에는 정보의 양이 많을수록 의사결정을 하는 데 유리하다.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b="0" lang="ko-KR" sz="1800">
                <a:solidFill>
                  <a:schemeClr val="dk1"/>
                </a:solidFill>
              </a:rPr>
              <a:t>4장에서 살펴본 월드컵과 치킨집의 사례에서 치킨집 점주가 위험 기피자(risk-averter)라면 135마리보다 더 적게 준비하여 낭비를 피할 것이며, 반대로 위험 선호자(risk-lover)라면 135마리보다 좀 더 준비하여 적극적으로 판촉 활동을 벌일 수도 있다.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확률분포</a:t>
            </a:r>
            <a:endParaRPr/>
          </a:p>
        </p:txBody>
      </p:sp>
      <p:sp>
        <p:nvSpPr>
          <p:cNvPr id="97" name="Google Shape;97;p7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Ex. 주사위를 던지기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 🡪 주사위를 던지면 1, 2, 3, 4, 5, 6의 6개 중 하나의 결과가 발생</a:t>
            </a:r>
            <a:br>
              <a:rPr b="0" lang="ko-KR" sz="1800">
                <a:solidFill>
                  <a:schemeClr val="dk1"/>
                </a:solidFill>
              </a:rPr>
            </a:br>
            <a:r>
              <a:rPr b="0" lang="ko-KR" sz="1800">
                <a:solidFill>
                  <a:schemeClr val="dk1"/>
                </a:solidFill>
              </a:rPr>
              <a:t>       이에 대한 확률을 다음과 같이 나타낼 수 있다.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cf. 치킨집의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판매량 예측에 대한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확률분포를 나타내면</a:t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9139" y="2492376"/>
            <a:ext cx="5673725" cy="19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2938" y="4832351"/>
            <a:ext cx="5675312" cy="188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균등분포</a:t>
            </a:r>
            <a:endParaRPr/>
          </a:p>
        </p:txBody>
      </p:sp>
      <p:sp>
        <p:nvSpPr>
          <p:cNvPr id="105" name="Google Shape;105;p8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균등분포 (uniform distribution)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이러한 예와 같이 과거의 경험이 미래를 예측하는 데 어떤 영향도 미치지 않으며, 나타날 가능성이 모두 동일한 분포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🡪 변수의 특성에 따라 이산 균등분포(discrete uniform distribution)와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연속 균등분포(continuous uniform distribution)로 구분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이산균등분포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정의된 구간에서 확률분포 함수의 모든 확률이 동일한 분포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</a:t>
            </a:r>
            <a:endParaRPr/>
          </a:p>
        </p:txBody>
      </p:sp>
      <p:sp>
        <p:nvSpPr>
          <p:cNvPr id="111" name="Google Shape;111;p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균등분포</a:t>
            </a:r>
            <a:endParaRPr/>
          </a:p>
        </p:txBody>
      </p:sp>
      <p:pic>
        <p:nvPicPr>
          <p:cNvPr id="112" name="Google Shape;1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2126" y="3538539"/>
            <a:ext cx="3095625" cy="267493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9"/>
          <p:cNvSpPr/>
          <p:nvPr/>
        </p:nvSpPr>
        <p:spPr>
          <a:xfrm>
            <a:off x="2711624" y="2996952"/>
            <a:ext cx="4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🡪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2999656" y="2232830"/>
            <a:ext cx="6192688" cy="6921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78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15" name="Google Shape;115;p9"/>
          <p:cNvSpPr txBox="1"/>
          <p:nvPr/>
        </p:nvSpPr>
        <p:spPr>
          <a:xfrm>
            <a:off x="2999656" y="2835561"/>
            <a:ext cx="4104456" cy="6921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18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균등분포</a:t>
            </a:r>
            <a:endParaRPr/>
          </a:p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연속균등분포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범위 내에서 모든 확률함수가 동일한 분포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2" name="Google Shape;1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4339" y="3732213"/>
            <a:ext cx="3095625" cy="2665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0"/>
          <p:cNvPicPr preferRelativeResize="0"/>
          <p:nvPr/>
        </p:nvPicPr>
        <p:blipFill rotWithShape="1">
          <a:blip r:embed="rId4">
            <a:alphaModFix/>
          </a:blip>
          <a:srcRect b="18848" l="0" r="66876" t="0"/>
          <a:stretch/>
        </p:blipFill>
        <p:spPr>
          <a:xfrm>
            <a:off x="6006438" y="2625716"/>
            <a:ext cx="1909398" cy="55598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/>
          <p:nvPr/>
        </p:nvSpPr>
        <p:spPr>
          <a:xfrm>
            <a:off x="2711624" y="2841739"/>
            <a:ext cx="4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🡪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10"/>
          <p:cNvSpPr txBox="1"/>
          <p:nvPr/>
        </p:nvSpPr>
        <p:spPr>
          <a:xfrm>
            <a:off x="2999656" y="1988841"/>
            <a:ext cx="6192688" cy="6921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78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26" name="Google Shape;126;p10"/>
          <p:cNvSpPr txBox="1"/>
          <p:nvPr/>
        </p:nvSpPr>
        <p:spPr>
          <a:xfrm>
            <a:off x="2999656" y="2625716"/>
            <a:ext cx="6192688" cy="69211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78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127" name="Google Shape;127;p10"/>
          <p:cNvGrpSpPr/>
          <p:nvPr/>
        </p:nvGrpSpPr>
        <p:grpSpPr>
          <a:xfrm>
            <a:off x="5732476" y="3164735"/>
            <a:ext cx="2235733" cy="685117"/>
            <a:chOff x="8265459" y="4320107"/>
            <a:chExt cx="2235733" cy="685117"/>
          </a:xfrm>
        </p:grpSpPr>
        <p:pic>
          <p:nvPicPr>
            <p:cNvPr id="128" name="Google Shape;128;p10"/>
            <p:cNvPicPr preferRelativeResize="0"/>
            <p:nvPr/>
          </p:nvPicPr>
          <p:blipFill rotWithShape="1">
            <a:blip r:embed="rId7">
              <a:alphaModFix/>
            </a:blip>
            <a:srcRect b="0" l="71596" r="0" t="0"/>
            <a:stretch/>
          </p:blipFill>
          <p:spPr>
            <a:xfrm>
              <a:off x="8265459" y="4395190"/>
              <a:ext cx="979714" cy="4488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0"/>
            <p:cNvPicPr preferRelativeResize="0"/>
            <p:nvPr/>
          </p:nvPicPr>
          <p:blipFill rotWithShape="1">
            <a:blip r:embed="rId4">
              <a:alphaModFix/>
            </a:blip>
            <a:srcRect b="0" l="56515" r="21253" t="0"/>
            <a:stretch/>
          </p:blipFill>
          <p:spPr>
            <a:xfrm>
              <a:off x="9219714" y="4320107"/>
              <a:ext cx="1281478" cy="6851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0"/>
          <p:cNvSpPr txBox="1"/>
          <p:nvPr/>
        </p:nvSpPr>
        <p:spPr>
          <a:xfrm>
            <a:off x="2999656" y="3104732"/>
            <a:ext cx="6192688" cy="69211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-785" r="-442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균등분포</a:t>
            </a:r>
            <a:endParaRPr/>
          </a:p>
        </p:txBody>
      </p:sp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0743" y="1340768"/>
            <a:ext cx="8230514" cy="2808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균등분포 (예제 풀이)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42" name="Google Shape;142;p12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6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  <p:pic>
        <p:nvPicPr>
          <p:cNvPr id="143" name="Google Shape;14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3552" y="3284984"/>
            <a:ext cx="3672408" cy="500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0016" y="3779655"/>
            <a:ext cx="3816424" cy="2781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</a:t>
            </a:r>
            <a:endParaRPr/>
          </a:p>
        </p:txBody>
      </p:sp>
      <p:sp>
        <p:nvSpPr>
          <p:cNvPr id="150" name="Google Shape;150;p13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정규분포 (normal distribution)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축적된 데이터를 기준으로 미래를 예측할 수 있는 분포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🡪 통계학에서 가장 많이 사용되는 분포이며,</a:t>
            </a:r>
            <a:b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평균과 분산만으로 그 특성을 모두 설명할 수 있어 아주 편리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1" name="Google Shape;1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01" y="3000584"/>
            <a:ext cx="1650559" cy="250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7174" y="3508542"/>
            <a:ext cx="4464496" cy="74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1164" y="4368787"/>
            <a:ext cx="3961060" cy="2389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13"/>
          <p:cNvGrpSpPr/>
          <p:nvPr/>
        </p:nvGrpSpPr>
        <p:grpSpPr>
          <a:xfrm>
            <a:off x="2063552" y="2924944"/>
            <a:ext cx="5724128" cy="326375"/>
            <a:chOff x="2063552" y="2958383"/>
            <a:chExt cx="5724128" cy="326375"/>
          </a:xfrm>
        </p:grpSpPr>
        <p:pic>
          <p:nvPicPr>
            <p:cNvPr id="155" name="Google Shape;155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63552" y="2996953"/>
              <a:ext cx="5724128" cy="2878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13"/>
            <p:cNvSpPr txBox="1"/>
            <p:nvPr/>
          </p:nvSpPr>
          <p:spPr>
            <a:xfrm>
              <a:off x="3719736" y="2958383"/>
              <a:ext cx="126578" cy="32637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-38093" r="-9523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</a:t>
            </a:r>
            <a:endParaRPr/>
          </a:p>
        </p:txBody>
      </p:sp>
      <p:pic>
        <p:nvPicPr>
          <p:cNvPr id="162" name="Google Shape;1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6388" y="1063934"/>
            <a:ext cx="6389701" cy="5605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</a:t>
            </a:r>
            <a:endParaRPr/>
          </a:p>
        </p:txBody>
      </p:sp>
      <p:sp>
        <p:nvSpPr>
          <p:cNvPr id="168" name="Google Shape;168;p15"/>
          <p:cNvSpPr txBox="1"/>
          <p:nvPr>
            <p:ph idx="1" type="body"/>
          </p:nvPr>
        </p:nvSpPr>
        <p:spPr>
          <a:xfrm>
            <a:off x="334434" y="1052736"/>
            <a:ext cx="11522207" cy="547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표준정규분포(standard normal distribution)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서로 다른 정규분포를 비교할 수 있도록 여러 개의 분포를 어떤 하나의 기준으로 </a:t>
            </a:r>
            <a:b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(평균=0, 표준편차1)으로 재배치해서 각 분포를 비교할 수 있도록 표준화된 분포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1774825" y="2564091"/>
            <a:ext cx="8713663" cy="397482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58" r="-557" t="-3766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ko-KR" sz="32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</a:t>
            </a:r>
            <a:endParaRPr/>
          </a:p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1918842" y="1268760"/>
            <a:ext cx="8641655" cy="5040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637" l="-63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  <p:pic>
        <p:nvPicPr>
          <p:cNvPr id="176" name="Google Shape;1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7362" y="2610317"/>
            <a:ext cx="5217275" cy="29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</a:t>
            </a:r>
            <a:endParaRPr/>
          </a:p>
        </p:txBody>
      </p:sp>
      <p:pic>
        <p:nvPicPr>
          <p:cNvPr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7568" y="1245741"/>
            <a:ext cx="7776864" cy="4366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</a:t>
            </a:r>
            <a:endParaRPr/>
          </a:p>
        </p:txBody>
      </p:sp>
      <p:pic>
        <p:nvPicPr>
          <p:cNvPr id="188" name="Google Shape;188;p18"/>
          <p:cNvPicPr preferRelativeResize="0"/>
          <p:nvPr/>
        </p:nvPicPr>
        <p:blipFill rotWithShape="1">
          <a:blip r:embed="rId3">
            <a:alphaModFix/>
          </a:blip>
          <a:srcRect b="29845" l="0" r="0" t="0"/>
          <a:stretch/>
        </p:blipFill>
        <p:spPr>
          <a:xfrm>
            <a:off x="2279650" y="981076"/>
            <a:ext cx="7500938" cy="561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</a:t>
            </a:r>
            <a:endParaRPr/>
          </a:p>
        </p:txBody>
      </p:sp>
      <p:pic>
        <p:nvPicPr>
          <p:cNvPr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73753"/>
          <a:stretch/>
        </p:blipFill>
        <p:spPr>
          <a:xfrm>
            <a:off x="2279650" y="1184276"/>
            <a:ext cx="7500938" cy="210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9650" y="3230564"/>
            <a:ext cx="7500938" cy="208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</a:t>
            </a:r>
            <a:endParaRPr/>
          </a:p>
        </p:txBody>
      </p:sp>
      <p:pic>
        <p:nvPicPr>
          <p:cNvPr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7564" y="1484784"/>
            <a:ext cx="7896869" cy="1224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 (예제 풀이) 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07" name="Google Shape;207;p21"/>
          <p:cNvSpPr txBox="1"/>
          <p:nvPr>
            <p:ph idx="1" type="body"/>
          </p:nvPr>
        </p:nvSpPr>
        <p:spPr>
          <a:xfrm>
            <a:off x="1918842" y="1268760"/>
            <a:ext cx="8641655" cy="5040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2207569" y="2924944"/>
            <a:ext cx="6769447" cy="5040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34933" l="-71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209" name="Google Shape;20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1450" y="2053605"/>
            <a:ext cx="422910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 (예제 Excel 풀이) 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1150" y="1412777"/>
            <a:ext cx="7889701" cy="483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 (예제 Excel 풀이) 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3138" y="1268760"/>
            <a:ext cx="8105725" cy="4978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 (예제 Excel 풀이) 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4177" y="1194816"/>
            <a:ext cx="8263646" cy="5066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 (예제 Excel 풀이) 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130" y="1268761"/>
            <a:ext cx="8249741" cy="5057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 (예제 Excel 풀이) 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5126" y="1196753"/>
            <a:ext cx="8321749" cy="5102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 (예제 Excel 풀이) 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2269" y="1268761"/>
            <a:ext cx="8307462" cy="4580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 (예제 Excel 풀이) 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51" name="Google Shape;2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7134" y="1196752"/>
            <a:ext cx="8177733" cy="5013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정규분포와 표준정규분포 (예제 Excel 풀이 완성) 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257" name="Google Shape;2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0" y="1719263"/>
            <a:ext cx="8135938" cy="2430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/>
          <p:nvPr/>
        </p:nvSpPr>
        <p:spPr>
          <a:xfrm>
            <a:off x="2279651" y="1299989"/>
            <a:ext cx="3443571" cy="835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이항분포</a:t>
            </a:r>
            <a:endParaRPr b="1" sz="4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3216276" y="2349500"/>
            <a:ext cx="6911975" cy="869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FF66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:: Keywords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베르누이 분포 | 이항분포 | 이항분포의 확률 계산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정규근사를 통한 이항분포의 연속성 수정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이항분포</a:t>
            </a:r>
            <a:endParaRPr/>
          </a:p>
        </p:txBody>
      </p:sp>
      <p:pic>
        <p:nvPicPr>
          <p:cNvPr id="269" name="Google Shape;2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3816" y="1268760"/>
            <a:ext cx="7884368" cy="526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베르누이분포</a:t>
            </a:r>
            <a:endParaRPr/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이항분포에서 베르누이 시행과 베르누이 분포를 먼저 알아야 하는 이유는 베르누이 시행의 결과를 바탕으로 이항분포를 설명하기 때문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ko-KR"/>
              <a:t>■ 베르누이 시행 (Bernoulli's trials)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서로 반대되는 사건이 일어나는 실험을 반복적으로 실행하는 것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🡪 서로 반대되는 사건이란 </a:t>
            </a:r>
            <a:b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반드시 두 개만 존재하며 절대 동시에 발생하지 않는 배타적인 사건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524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Ex. 동전 던지기와 주사위 던지기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베르누이분포</a:t>
            </a:r>
            <a:endParaRPr/>
          </a:p>
        </p:txBody>
      </p:sp>
      <p:pic>
        <p:nvPicPr>
          <p:cNvPr id="281" name="Google Shape;28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8076" y="4797426"/>
            <a:ext cx="5122863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34434" y="1052736"/>
            <a:ext cx="11522207" cy="547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베르누이 분포(bernoulli’s distribution)</a:t>
            </a:r>
            <a:endParaRPr/>
          </a:p>
        </p:txBody>
      </p:sp>
      <p:sp>
        <p:nvSpPr>
          <p:cNvPr id="283" name="Google Shape;283;p33"/>
          <p:cNvSpPr txBox="1"/>
          <p:nvPr/>
        </p:nvSpPr>
        <p:spPr>
          <a:xfrm>
            <a:off x="1774824" y="1600201"/>
            <a:ext cx="8785672" cy="493871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54" r="-624" t="-107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rPr lang="ko-KR" sz="32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이항분포</a:t>
            </a:r>
            <a:endParaRPr/>
          </a:p>
        </p:txBody>
      </p:sp>
      <p:pic>
        <p:nvPicPr>
          <p:cNvPr id="289" name="Google Shape;2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0" y="3284539"/>
            <a:ext cx="345598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0114" y="3956050"/>
            <a:ext cx="884237" cy="211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0113" y="4352926"/>
            <a:ext cx="1619250" cy="32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19739" y="5276850"/>
            <a:ext cx="1474787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4"/>
          <p:cNvSpPr txBox="1"/>
          <p:nvPr>
            <p:ph idx="1" type="body"/>
          </p:nvPr>
        </p:nvSpPr>
        <p:spPr>
          <a:xfrm>
            <a:off x="334434" y="1052736"/>
            <a:ext cx="11522207" cy="547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이항분포 (binomial distribution)</a:t>
            </a:r>
            <a:endParaRPr/>
          </a:p>
        </p:txBody>
      </p:sp>
      <p:sp>
        <p:nvSpPr>
          <p:cNvPr id="294" name="Google Shape;294;p34"/>
          <p:cNvSpPr txBox="1"/>
          <p:nvPr/>
        </p:nvSpPr>
        <p:spPr>
          <a:xfrm>
            <a:off x="1774825" y="1586753"/>
            <a:ext cx="8642350" cy="495216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563" r="0" t="-104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ko-KR" sz="32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이항분포</a:t>
            </a:r>
            <a:endParaRPr/>
          </a:p>
        </p:txBody>
      </p:sp>
      <p:pic>
        <p:nvPicPr>
          <p:cNvPr id="300" name="Google Shape;3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3139" y="2815257"/>
            <a:ext cx="5292725" cy="26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4725" y="3270871"/>
            <a:ext cx="2266950" cy="28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3613" y="3902696"/>
            <a:ext cx="4895850" cy="606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5"/>
          <p:cNvSpPr txBox="1"/>
          <p:nvPr>
            <p:ph idx="1" type="body"/>
          </p:nvPr>
        </p:nvSpPr>
        <p:spPr>
          <a:xfrm>
            <a:off x="334434" y="1052736"/>
            <a:ext cx="11522207" cy="547260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70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이항분포</a:t>
            </a:r>
            <a:endParaRPr/>
          </a:p>
        </p:txBody>
      </p:sp>
      <p:pic>
        <p:nvPicPr>
          <p:cNvPr id="309" name="Google Shape;30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5784" y="1570575"/>
            <a:ext cx="8460432" cy="248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이항분포 (예제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15" name="Google Shape;315;p37"/>
          <p:cNvPicPr preferRelativeResize="0"/>
          <p:nvPr/>
        </p:nvPicPr>
        <p:blipFill rotWithShape="1">
          <a:blip r:embed="rId3">
            <a:alphaModFix/>
          </a:blip>
          <a:srcRect b="83225" l="0" r="66899" t="0"/>
          <a:stretch/>
        </p:blipFill>
        <p:spPr>
          <a:xfrm>
            <a:off x="2027239" y="1628776"/>
            <a:ext cx="2335756" cy="26098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7"/>
          <p:cNvSpPr txBox="1"/>
          <p:nvPr/>
        </p:nvSpPr>
        <p:spPr>
          <a:xfrm>
            <a:off x="2098675" y="3573464"/>
            <a:ext cx="541338" cy="503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🡪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p37"/>
          <p:cNvSpPr txBox="1"/>
          <p:nvPr>
            <p:ph idx="1" type="body"/>
          </p:nvPr>
        </p:nvSpPr>
        <p:spPr>
          <a:xfrm>
            <a:off x="4300310" y="1531640"/>
            <a:ext cx="4216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이므로 확률함수를 구하며 다음과 같다. </a:t>
            </a:r>
            <a:endParaRPr/>
          </a:p>
        </p:txBody>
      </p:sp>
      <p:pic>
        <p:nvPicPr>
          <p:cNvPr id="318" name="Google Shape;318;p37"/>
          <p:cNvPicPr preferRelativeResize="0"/>
          <p:nvPr/>
        </p:nvPicPr>
        <p:blipFill rotWithShape="1">
          <a:blip r:embed="rId3">
            <a:alphaModFix/>
          </a:blip>
          <a:srcRect b="0" l="0" r="0" t="34128"/>
          <a:stretch/>
        </p:blipFill>
        <p:spPr>
          <a:xfrm>
            <a:off x="2027239" y="2124891"/>
            <a:ext cx="7056437" cy="1024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7"/>
          <p:cNvSpPr txBox="1"/>
          <p:nvPr/>
        </p:nvSpPr>
        <p:spPr>
          <a:xfrm>
            <a:off x="2523762" y="3547864"/>
            <a:ext cx="4216672" cy="457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7599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이항분포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25" name="Google Shape;32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8273" y="1340769"/>
            <a:ext cx="8235454" cy="4943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이항분포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31" name="Google Shape;33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130" y="1340768"/>
            <a:ext cx="8249741" cy="497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이항분포 (예제 Excel 풀이 완성)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37" name="Google Shape;33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7134" y="1340769"/>
            <a:ext cx="8177733" cy="4927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이항분포 (예제 Excel 풀이 완성-참고)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43" name="Google Shape;34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7134" y="1340768"/>
            <a:ext cx="8177733" cy="4918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이항분포 (예제 Excel 풀이 완성-참고)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49" name="Google Shape;34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512" y="1196752"/>
            <a:ext cx="7038975" cy="530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이항분포 (예제 Excel 풀이 완성-참고)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55" name="Google Shape;35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5892" y="1340769"/>
            <a:ext cx="8240216" cy="4835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정규근사를 통한 이항분포의 연속성 수정</a:t>
            </a:r>
            <a:endParaRPr/>
          </a:p>
        </p:txBody>
      </p:sp>
      <p:sp>
        <p:nvSpPr>
          <p:cNvPr id="361" name="Google Shape;361;p44"/>
          <p:cNvSpPr txBox="1"/>
          <p:nvPr>
            <p:ph idx="1" type="body"/>
          </p:nvPr>
        </p:nvSpPr>
        <p:spPr>
          <a:xfrm>
            <a:off x="1774824" y="1066801"/>
            <a:ext cx="8929687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이항분포에서도 정규분포를 이용할 수 있다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이항분포 : 이산형 분포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정규분포 : 연속적인 분포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이항분포의 확률을 알고 있더라도 충분히 많은 실험(예를 들어 1천 회)을 해서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확률이 맞다는 것을 확인하는 과정을 거쳐 정규근사(asymptotic normality)한다는 것을 확인하기 위함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(그러나 충분히 사건을 발생시키더라도 이항분포와 정규분포의 차이는 생긴다.)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주사위를 던져서 1과 2가 몇 번이나 나오는지 확인한다고 할 때,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1과 2는 이산된 분포지만 충분히 많은 실험을 한다 해도 확률이 정확하게 1/3이 아님.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정규근사를 통한 이항분포의 연속성 수정</a:t>
            </a:r>
            <a:endParaRPr/>
          </a:p>
        </p:txBody>
      </p:sp>
      <p:sp>
        <p:nvSpPr>
          <p:cNvPr id="367" name="Google Shape;367;p45"/>
          <p:cNvSpPr txBox="1"/>
          <p:nvPr>
            <p:ph idx="1" type="body"/>
          </p:nvPr>
        </p:nvSpPr>
        <p:spPr>
          <a:xfrm>
            <a:off x="1774824" y="1066801"/>
            <a:ext cx="8929687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그러므로 정규분포로 구성하는 과정에서 이 중간을 구성하는 값들이 존재하게 되고, 이런 중간의 값들을 좀 더 정확하게 확인하기 위하여 0.5로 보정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이때 구간이라면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하한에서는 -0.5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상한에서는 0.5를 추가하여 분포를 확인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🡪 이것을 연속성 수정(continuity correction)이라 한다.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정규근사를 통한 이항분포의 연속성 수정</a:t>
            </a:r>
            <a:endParaRPr/>
          </a:p>
        </p:txBody>
      </p:sp>
      <p:pic>
        <p:nvPicPr>
          <p:cNvPr id="373" name="Google Shape;37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7488" y="1412775"/>
            <a:ext cx="9433048" cy="1481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7"/>
          <p:cNvSpPr txBox="1"/>
          <p:nvPr>
            <p:ph type="title"/>
          </p:nvPr>
        </p:nvSpPr>
        <p:spPr>
          <a:xfrm>
            <a:off x="1774826" y="188914"/>
            <a:ext cx="8281614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정규근사를 통한 이항분포의 연속성 수정 (예제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79" name="Google Shape;37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7029" y="1412776"/>
            <a:ext cx="7248525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8"/>
          <p:cNvSpPr txBox="1"/>
          <p:nvPr>
            <p:ph type="title"/>
          </p:nvPr>
        </p:nvSpPr>
        <p:spPr>
          <a:xfrm>
            <a:off x="1774826" y="188914"/>
            <a:ext cx="8281614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정규근사를 통한 이항분포의 연속성 수정 (예제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85" name="Google Shape;38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1504" y="1484784"/>
            <a:ext cx="724852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 txBox="1"/>
          <p:nvPr>
            <p:ph type="title"/>
          </p:nvPr>
        </p:nvSpPr>
        <p:spPr>
          <a:xfrm>
            <a:off x="1774826" y="188914"/>
            <a:ext cx="8281614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정규근사를 통한 이항분포의 연속성 수정 (예제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91" name="Google Shape;3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3525" y="1556792"/>
            <a:ext cx="9124950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"/>
          <p:cNvSpPr/>
          <p:nvPr/>
        </p:nvSpPr>
        <p:spPr>
          <a:xfrm>
            <a:off x="2279650" y="1368252"/>
            <a:ext cx="4040188" cy="836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포아송분포</a:t>
            </a:r>
            <a:endParaRPr b="1" sz="4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7" name="Google Shape;397;p50"/>
          <p:cNvSpPr txBox="1"/>
          <p:nvPr/>
        </p:nvSpPr>
        <p:spPr>
          <a:xfrm>
            <a:off x="3163564" y="3324401"/>
            <a:ext cx="705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FF66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:: Keywords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포아송분포 | 포아송분포의 확률 계산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포아송분포와 정규분포와의 관계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</a:t>
            </a:r>
            <a:endParaRPr/>
          </a:p>
        </p:txBody>
      </p:sp>
      <p:pic>
        <p:nvPicPr>
          <p:cNvPr id="403" name="Google Shape;40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0059" y="1628800"/>
            <a:ext cx="8311881" cy="4229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</a:t>
            </a:r>
            <a:endParaRPr/>
          </a:p>
        </p:txBody>
      </p:sp>
      <p:sp>
        <p:nvSpPr>
          <p:cNvPr id="409" name="Google Shape;409;p52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ko-KR"/>
              <a:t>■ 포아송분포 (poisson distribution)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특정한 사건이 발생할 가능성이 매우 드문 경우의 확률분포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ex. 기마대의 기병의 낙마사고 발생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손을 씻다 세면기에 휴대전화를 빠트릴 횟수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야구 관람 중에 홈런볼이나 파울볼을 받을 횟수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버스를 탈 때 1초도 기다리지 않고 정류장에 동시에 도착할 횟수 등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</a:t>
            </a:r>
            <a:endParaRPr/>
          </a:p>
        </p:txBody>
      </p:sp>
      <p:pic>
        <p:nvPicPr>
          <p:cNvPr id="415" name="Google Shape;41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4276" y="1833563"/>
            <a:ext cx="4316413" cy="430212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3"/>
          <p:cNvSpPr txBox="1"/>
          <p:nvPr>
            <p:ph idx="1" type="body"/>
          </p:nvPr>
        </p:nvSpPr>
        <p:spPr>
          <a:xfrm>
            <a:off x="1774825" y="1066801"/>
            <a:ext cx="8642350" cy="58782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1457" l="-91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  <p:sp>
        <p:nvSpPr>
          <p:cNvPr id="417" name="Google Shape;417;p53"/>
          <p:cNvSpPr txBox="1"/>
          <p:nvPr/>
        </p:nvSpPr>
        <p:spPr>
          <a:xfrm>
            <a:off x="2086372" y="3140968"/>
            <a:ext cx="5377779" cy="457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418" name="Google Shape;418;p53"/>
          <p:cNvSpPr txBox="1"/>
          <p:nvPr/>
        </p:nvSpPr>
        <p:spPr>
          <a:xfrm>
            <a:off x="2086372" y="3733916"/>
            <a:ext cx="7970068" cy="457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1331" l="-22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419" name="Google Shape;419;p53"/>
          <p:cNvSpPr txBox="1"/>
          <p:nvPr/>
        </p:nvSpPr>
        <p:spPr>
          <a:xfrm>
            <a:off x="2086372" y="4090135"/>
            <a:ext cx="7970068" cy="85103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420" name="Google Shape;420;p53"/>
          <p:cNvGrpSpPr/>
          <p:nvPr/>
        </p:nvGrpSpPr>
        <p:grpSpPr>
          <a:xfrm>
            <a:off x="2146660" y="5085184"/>
            <a:ext cx="6120358" cy="648072"/>
            <a:chOff x="323850" y="5445224"/>
            <a:chExt cx="6120358" cy="648072"/>
          </a:xfrm>
        </p:grpSpPr>
        <p:pic>
          <p:nvPicPr>
            <p:cNvPr id="421" name="Google Shape;421;p5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3850" y="5589588"/>
              <a:ext cx="2519363" cy="377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5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356646" y="5445224"/>
              <a:ext cx="2087562" cy="627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53"/>
            <p:cNvSpPr txBox="1"/>
            <p:nvPr/>
          </p:nvSpPr>
          <p:spPr>
            <a:xfrm>
              <a:off x="2812834" y="5487171"/>
              <a:ext cx="1543142" cy="60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600"/>
                </a:buClr>
                <a:buSzPts val="1800"/>
                <a:buFont typeface="Noto Sans Symbols"/>
                <a:buNone/>
              </a:pPr>
              <a:r>
                <a:rPr b="0"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에 대입하면</a:t>
              </a:r>
              <a:endParaRPr b="0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</a:t>
            </a:r>
            <a:endParaRPr/>
          </a:p>
        </p:txBody>
      </p:sp>
      <p:pic>
        <p:nvPicPr>
          <p:cNvPr id="429" name="Google Shape;429;p54"/>
          <p:cNvPicPr preferRelativeResize="0"/>
          <p:nvPr/>
        </p:nvPicPr>
        <p:blipFill rotWithShape="1">
          <a:blip r:embed="rId3">
            <a:alphaModFix/>
          </a:blip>
          <a:srcRect b="7243" l="76223" r="0" t="0"/>
          <a:stretch/>
        </p:blipFill>
        <p:spPr>
          <a:xfrm>
            <a:off x="5732580" y="1562100"/>
            <a:ext cx="1339597" cy="28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4"/>
          <p:cNvPicPr preferRelativeResize="0"/>
          <p:nvPr/>
        </p:nvPicPr>
        <p:blipFill rotWithShape="1">
          <a:blip r:embed="rId4">
            <a:alphaModFix/>
          </a:blip>
          <a:srcRect b="0" l="0" r="30837" t="0"/>
          <a:stretch/>
        </p:blipFill>
        <p:spPr>
          <a:xfrm>
            <a:off x="2178369" y="2168072"/>
            <a:ext cx="1897243" cy="32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8651" y="3141663"/>
            <a:ext cx="2233613" cy="6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4"/>
          <p:cNvSpPr txBox="1"/>
          <p:nvPr/>
        </p:nvSpPr>
        <p:spPr>
          <a:xfrm>
            <a:off x="2086373" y="1442796"/>
            <a:ext cx="4216672" cy="4572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433" name="Google Shape;433;p54"/>
          <p:cNvSpPr txBox="1"/>
          <p:nvPr/>
        </p:nvSpPr>
        <p:spPr>
          <a:xfrm>
            <a:off x="4054510" y="2096659"/>
            <a:ext cx="4216672" cy="4572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</a:t>
            </a:r>
            <a:endParaRPr/>
          </a:p>
        </p:txBody>
      </p:sp>
      <p:pic>
        <p:nvPicPr>
          <p:cNvPr id="439" name="Google Shape;43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0" y="1196976"/>
            <a:ext cx="8064500" cy="4913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</a:t>
            </a:r>
            <a:endParaRPr/>
          </a:p>
        </p:txBody>
      </p:sp>
      <p:pic>
        <p:nvPicPr>
          <p:cNvPr id="445" name="Google Shape;44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9496" y="1556792"/>
            <a:ext cx="9505056" cy="1975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 (예제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451" name="Google Shape;45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593" y="2098056"/>
            <a:ext cx="644525" cy="2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6401" y="2780928"/>
            <a:ext cx="5453063" cy="59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7"/>
          <p:cNvPicPr preferRelativeResize="0"/>
          <p:nvPr/>
        </p:nvPicPr>
        <p:blipFill rotWithShape="1">
          <a:blip r:embed="rId5">
            <a:alphaModFix/>
          </a:blip>
          <a:srcRect b="11065" l="0" r="85532" t="4"/>
          <a:stretch/>
        </p:blipFill>
        <p:spPr>
          <a:xfrm>
            <a:off x="2146301" y="3638321"/>
            <a:ext cx="980077" cy="21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46400" y="4365104"/>
            <a:ext cx="5310188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7"/>
          <p:cNvPicPr preferRelativeResize="0"/>
          <p:nvPr/>
        </p:nvPicPr>
        <p:blipFill rotWithShape="1">
          <a:blip r:embed="rId7">
            <a:alphaModFix/>
          </a:blip>
          <a:srcRect b="-43436" l="0" r="74797" t="-1"/>
          <a:stretch/>
        </p:blipFill>
        <p:spPr>
          <a:xfrm>
            <a:off x="2146301" y="5152379"/>
            <a:ext cx="1394759" cy="373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46400" y="5615336"/>
            <a:ext cx="2286000" cy="261937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7"/>
          <p:cNvSpPr txBox="1"/>
          <p:nvPr>
            <p:ph idx="1" type="body"/>
          </p:nvPr>
        </p:nvSpPr>
        <p:spPr>
          <a:xfrm>
            <a:off x="1774825" y="1066801"/>
            <a:ext cx="8642350" cy="100584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4240" l="-91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  <p:sp>
        <p:nvSpPr>
          <p:cNvPr id="458" name="Google Shape;458;p57"/>
          <p:cNvSpPr/>
          <p:nvPr/>
        </p:nvSpPr>
        <p:spPr>
          <a:xfrm>
            <a:off x="2135560" y="2492896"/>
            <a:ext cx="4572000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4588" l="0" r="0" t="-983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459" name="Google Shape;459;p57"/>
          <p:cNvSpPr/>
          <p:nvPr/>
        </p:nvSpPr>
        <p:spPr>
          <a:xfrm>
            <a:off x="3041249" y="3563724"/>
            <a:ext cx="5432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3538" lvl="0" marL="363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1번 이하로 휴대전화를 놓고 가는 경우이므로, </a:t>
            </a:r>
            <a:endParaRPr/>
          </a:p>
        </p:txBody>
      </p:sp>
      <p:sp>
        <p:nvSpPr>
          <p:cNvPr id="460" name="Google Shape;460;p57"/>
          <p:cNvSpPr/>
          <p:nvPr/>
        </p:nvSpPr>
        <p:spPr>
          <a:xfrm>
            <a:off x="2063553" y="3933056"/>
            <a:ext cx="5432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3538" lvl="0" marL="363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번도 실수를 하지 않는 경우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1" name="Google Shape;461;p57"/>
          <p:cNvSpPr/>
          <p:nvPr/>
        </p:nvSpPr>
        <p:spPr>
          <a:xfrm>
            <a:off x="3483819" y="5111279"/>
            <a:ext cx="12495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3538" lvl="0" marL="363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확률과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2" name="Google Shape;462;p57"/>
          <p:cNvPicPr preferRelativeResize="0"/>
          <p:nvPr/>
        </p:nvPicPr>
        <p:blipFill rotWithShape="1">
          <a:blip r:embed="rId7">
            <a:alphaModFix/>
          </a:blip>
          <a:srcRect b="-1" l="43208" r="31203" t="-1"/>
          <a:stretch/>
        </p:blipFill>
        <p:spPr>
          <a:xfrm>
            <a:off x="4634754" y="5152379"/>
            <a:ext cx="1416003" cy="2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7"/>
          <p:cNvSpPr/>
          <p:nvPr/>
        </p:nvSpPr>
        <p:spPr>
          <a:xfrm>
            <a:off x="6023072" y="5111279"/>
            <a:ext cx="22065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3538" lvl="0" marL="3635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확률을 더하면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4" name="Google Shape;464;p57"/>
          <p:cNvSpPr/>
          <p:nvPr/>
        </p:nvSpPr>
        <p:spPr>
          <a:xfrm>
            <a:off x="2184496" y="6097764"/>
            <a:ext cx="5797454" cy="37638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806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 (예제 풀이)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70" name="Google Shape;470;p58"/>
          <p:cNvSpPr/>
          <p:nvPr/>
        </p:nvSpPr>
        <p:spPr>
          <a:xfrm>
            <a:off x="2135189" y="3297238"/>
            <a:ext cx="54006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휴대전화를 5회 놓고 가는 경우의 확률함수</a:t>
            </a:r>
            <a:endParaRPr/>
          </a:p>
        </p:txBody>
      </p:sp>
      <p:pic>
        <p:nvPicPr>
          <p:cNvPr id="471" name="Google Shape;47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6989" y="2348881"/>
            <a:ext cx="51847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6038" y="3781425"/>
            <a:ext cx="52387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8"/>
          <p:cNvSpPr txBox="1"/>
          <p:nvPr/>
        </p:nvSpPr>
        <p:spPr>
          <a:xfrm>
            <a:off x="2109788" y="5229225"/>
            <a:ext cx="493712" cy="503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∴</a:t>
            </a:r>
            <a:endParaRPr/>
          </a:p>
        </p:txBody>
      </p:sp>
      <p:sp>
        <p:nvSpPr>
          <p:cNvPr id="474" name="Google Shape;474;p58"/>
          <p:cNvSpPr/>
          <p:nvPr/>
        </p:nvSpPr>
        <p:spPr>
          <a:xfrm>
            <a:off x="2135189" y="1835150"/>
            <a:ext cx="540067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휴대전화를 4회 놓고 가는 경우의 확률함수</a:t>
            </a:r>
            <a:endParaRPr/>
          </a:p>
        </p:txBody>
      </p:sp>
      <p:sp>
        <p:nvSpPr>
          <p:cNvPr id="475" name="Google Shape;475;p58"/>
          <p:cNvSpPr txBox="1"/>
          <p:nvPr>
            <p:ph idx="1" type="body"/>
          </p:nvPr>
        </p:nvSpPr>
        <p:spPr>
          <a:xfrm>
            <a:off x="1774825" y="1066801"/>
            <a:ext cx="8642350" cy="8191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91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  <p:sp>
        <p:nvSpPr>
          <p:cNvPr id="476" name="Google Shape;476;p58"/>
          <p:cNvSpPr/>
          <p:nvPr/>
        </p:nvSpPr>
        <p:spPr>
          <a:xfrm>
            <a:off x="2135189" y="4849813"/>
            <a:ext cx="5400675" cy="3745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8194" l="-22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477" name="Google Shape;477;p58"/>
          <p:cNvSpPr/>
          <p:nvPr/>
        </p:nvSpPr>
        <p:spPr>
          <a:xfrm>
            <a:off x="2423518" y="5301208"/>
            <a:ext cx="5400675" cy="37452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819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483" name="Google Shape;48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1211" y="1124744"/>
            <a:ext cx="8489578" cy="5374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489" name="Google Shape;48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9516" y="1133680"/>
            <a:ext cx="8712968" cy="5535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495" name="Google Shape;49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476375"/>
            <a:ext cx="899160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 (예제 Excel 풀이)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501" name="Google Shape;501;p62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538" lvl="0" marL="36353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ko-KR"/>
              <a:t>■ 4~5회 휴대전화를 놓고 갈 확률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02" name="Google Shape;50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7528" y="1772816"/>
            <a:ext cx="8991600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08" name="Google Shape;50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471612"/>
            <a:ext cx="8991600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14" name="Google Shape;51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476375"/>
            <a:ext cx="899160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 (예제 Excel 풀이)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520" name="Google Shape;520;p65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538" lvl="0" marL="36353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ko-KR"/>
              <a:t>■ 확률밀도함수를 이용하는 경우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21" name="Google Shape;52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7528" y="1772816"/>
            <a:ext cx="9001125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27" name="Google Shape;52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509712"/>
            <a:ext cx="8991600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포아송분포의 확률 계산 (예제 Excel 풀이 완성)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33" name="Google Shape;53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725" y="1514475"/>
            <a:ext cx="8972550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포아송분포와 정규분포의 관계</a:t>
            </a:r>
            <a:endParaRPr/>
          </a:p>
        </p:txBody>
      </p:sp>
      <p:pic>
        <p:nvPicPr>
          <p:cNvPr id="539" name="Google Shape;53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69" y="980728"/>
            <a:ext cx="4896544" cy="275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1776" y="1124744"/>
            <a:ext cx="5626792" cy="5574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2012-07-11T10:23:22Z</dcterms:created>
  <dc:creator>daaep@naver.com</dc:creator>
</cp:coreProperties>
</file>