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9">
          <p15:clr>
            <a:srgbClr val="A4A3A4"/>
          </p15:clr>
        </p15:guide>
        <p15:guide id="2" pos="574">
          <p15:clr>
            <a:srgbClr val="A4A3A4"/>
          </p15:clr>
        </p15:guide>
      </p15:sldGuideLst>
    </p:ext>
    <p:ext uri="GoogleSlidesCustomDataVersion2">
      <go:slidesCustomData xmlns:go="http://customooxmlschemas.google.com/" r:id="rId72" roundtripDataSignature="AMtx7mhH3CDtm8PrWCf4vqTNqqZaMBb4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9" orient="horz"/>
        <p:guide pos="5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2" Type="http://customschemas.google.com/relationships/presentationmetadata" Target="meta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저작권">
  <p:cSld name="저작권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8"/>
          <p:cNvSpPr txBox="1"/>
          <p:nvPr/>
        </p:nvSpPr>
        <p:spPr>
          <a:xfrm>
            <a:off x="833967" y="981075"/>
            <a:ext cx="9582151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제대로 시작하는 기초 통계학 2판 : Excel 활용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7;p68"/>
          <p:cNvSpPr txBox="1"/>
          <p:nvPr/>
        </p:nvSpPr>
        <p:spPr>
          <a:xfrm>
            <a:off x="812801" y="1700213"/>
            <a:ext cx="10655300" cy="107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</a:t>
            </a:r>
            <a:r>
              <a:rPr b="1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노경섭</a:t>
            </a:r>
            <a:r>
              <a:rPr b="0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b="1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한빛아카데미㈜</a:t>
            </a:r>
            <a:r>
              <a:rPr b="0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있습니다.</a:t>
            </a:r>
            <a:r>
              <a:rPr b="0" i="0" lang="ko-KR" sz="1000" u="none" cap="none" strike="noStrike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000" u="none" cap="none" strike="noStrik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Arial"/>
              <a:buChar char="•"/>
            </a:pPr>
            <a:r>
              <a:rPr b="0" i="0" lang="ko-KR" sz="1000" u="sng" cap="none" strike="noStrike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벌금에 처할 수 있고 이를 병과(倂科)할 수도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68"/>
          <p:cNvSpPr/>
          <p:nvPr/>
        </p:nvSpPr>
        <p:spPr>
          <a:xfrm>
            <a:off x="425451" y="404814"/>
            <a:ext cx="11330516" cy="6048375"/>
          </a:xfrm>
          <a:prstGeom prst="roundRect">
            <a:avLst>
              <a:gd fmla="val 8163" name="adj"/>
            </a:avLst>
          </a:prstGeom>
          <a:noFill/>
          <a:ln cap="flat" cmpd="sng" w="539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C:\Documents and Settings\hanb\바탕 화면\한빛아카데미.bmp" id="19" name="Google Shape;19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49317" y="5927725"/>
            <a:ext cx="2123016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">
  <p:cSld name="제목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69"/>
          <p:cNvPicPr preferRelativeResize="0"/>
          <p:nvPr/>
        </p:nvPicPr>
        <p:blipFill rotWithShape="1">
          <a:blip r:embed="rId2">
            <a:alphaModFix/>
          </a:blip>
          <a:srcRect b="0" l="0" r="311" t="0"/>
          <a:stretch/>
        </p:blipFill>
        <p:spPr>
          <a:xfrm>
            <a:off x="1" y="0"/>
            <a:ext cx="12192000" cy="685733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69"/>
          <p:cNvSpPr/>
          <p:nvPr/>
        </p:nvSpPr>
        <p:spPr>
          <a:xfrm>
            <a:off x="565403" y="5742408"/>
            <a:ext cx="1028455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00" u="none" cap="none" strike="noStrike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200" u="none" cap="none" strike="noStrike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b="1" i="0" sz="3200" u="none" cap="none" strike="noStrike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69"/>
          <p:cNvSpPr/>
          <p:nvPr/>
        </p:nvSpPr>
        <p:spPr>
          <a:xfrm>
            <a:off x="1847528" y="5711630"/>
            <a:ext cx="40230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5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가설검정 </a:t>
            </a:r>
            <a:endParaRPr/>
          </a:p>
        </p:txBody>
      </p:sp>
      <p:sp>
        <p:nvSpPr>
          <p:cNvPr id="24" name="Google Shape;24;p69"/>
          <p:cNvSpPr/>
          <p:nvPr/>
        </p:nvSpPr>
        <p:spPr>
          <a:xfrm>
            <a:off x="4791059" y="6039201"/>
            <a:ext cx="27460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 of Hypothesis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0"/>
          <p:cNvSpPr/>
          <p:nvPr/>
        </p:nvSpPr>
        <p:spPr>
          <a:xfrm>
            <a:off x="0" y="-22224"/>
            <a:ext cx="12192000" cy="555625"/>
          </a:xfrm>
          <a:prstGeom prst="rect">
            <a:avLst/>
          </a:prstGeom>
          <a:solidFill>
            <a:srgbClr val="B3E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481C1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" name="Google Shape;27;p70"/>
          <p:cNvSpPr txBox="1"/>
          <p:nvPr>
            <p:ph type="title"/>
          </p:nvPr>
        </p:nvSpPr>
        <p:spPr>
          <a:xfrm>
            <a:off x="84667" y="35744"/>
            <a:ext cx="10380133" cy="474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80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1"/>
          <p:cNvSpPr/>
          <p:nvPr/>
        </p:nvSpPr>
        <p:spPr>
          <a:xfrm>
            <a:off x="0" y="647700"/>
            <a:ext cx="12192000" cy="6210300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481C1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0" name="Google Shape;30;p71"/>
          <p:cNvGrpSpPr/>
          <p:nvPr/>
        </p:nvGrpSpPr>
        <p:grpSpPr>
          <a:xfrm>
            <a:off x="7920567" y="44451"/>
            <a:ext cx="4110498" cy="523307"/>
            <a:chOff x="6685508" y="188640"/>
            <a:chExt cx="3084563" cy="522000"/>
          </a:xfrm>
        </p:grpSpPr>
        <p:sp>
          <p:nvSpPr>
            <p:cNvPr id="31" name="Google Shape;31;p71"/>
            <p:cNvSpPr/>
            <p:nvPr/>
          </p:nvSpPr>
          <p:spPr>
            <a:xfrm>
              <a:off x="8248471" y="188640"/>
              <a:ext cx="1521600" cy="52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800" u="none" cap="none" strike="noStrike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가설검정</a:t>
              </a:r>
              <a:endParaRPr/>
            </a:p>
          </p:txBody>
        </p:sp>
        <p:sp>
          <p:nvSpPr>
            <p:cNvPr id="32" name="Google Shape;32;p71"/>
            <p:cNvSpPr/>
            <p:nvPr/>
          </p:nvSpPr>
          <p:spPr>
            <a:xfrm>
              <a:off x="6685508" y="188640"/>
              <a:ext cx="1237170" cy="521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000" u="none" cap="none" strike="noStrike">
                  <a:solidFill>
                    <a:srgbClr val="98480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Chapter </a:t>
              </a:r>
              <a:r>
                <a:rPr b="1" i="0" lang="ko-KR" sz="2800" u="none" cap="none" strike="noStrike">
                  <a:solidFill>
                    <a:srgbClr val="98480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07</a:t>
              </a:r>
              <a:endParaRPr b="1" i="0" sz="2800" u="none" cap="none" strike="noStrike">
                <a:solidFill>
                  <a:srgbClr val="984807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3" name="Google Shape;33;p71"/>
          <p:cNvSpPr/>
          <p:nvPr/>
        </p:nvSpPr>
        <p:spPr>
          <a:xfrm>
            <a:off x="0" y="587375"/>
            <a:ext cx="12192000" cy="10795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481C1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4" name="Google Shape;34;p71"/>
          <p:cNvPicPr preferRelativeResize="0"/>
          <p:nvPr/>
        </p:nvPicPr>
        <p:blipFill rotWithShape="1">
          <a:blip r:embed="rId2">
            <a:alphaModFix/>
          </a:blip>
          <a:srcRect b="13762" l="59491" r="5121" t="68494"/>
          <a:stretch/>
        </p:blipFill>
        <p:spPr>
          <a:xfrm>
            <a:off x="7361767" y="5372100"/>
            <a:ext cx="4415367" cy="1354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rt1_본문(이론)">
  <p:cSld name="part1_본문(이론)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72"/>
          <p:cNvCxnSpPr/>
          <p:nvPr/>
        </p:nvCxnSpPr>
        <p:spPr>
          <a:xfrm>
            <a:off x="1" y="908050"/>
            <a:ext cx="3119967" cy="0"/>
          </a:xfrm>
          <a:prstGeom prst="straightConnector1">
            <a:avLst/>
          </a:prstGeom>
          <a:noFill/>
          <a:ln cap="flat" cmpd="sng" w="76200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72"/>
          <p:cNvCxnSpPr/>
          <p:nvPr/>
        </p:nvCxnSpPr>
        <p:spPr>
          <a:xfrm>
            <a:off x="3119967" y="908050"/>
            <a:ext cx="3119967" cy="0"/>
          </a:xfrm>
          <a:prstGeom prst="straightConnector1">
            <a:avLst/>
          </a:prstGeom>
          <a:noFill/>
          <a:ln cap="flat" cmpd="sng" w="76200">
            <a:solidFill>
              <a:srgbClr val="FF9933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72"/>
          <p:cNvCxnSpPr/>
          <p:nvPr/>
        </p:nvCxnSpPr>
        <p:spPr>
          <a:xfrm>
            <a:off x="5952067" y="908050"/>
            <a:ext cx="3119967" cy="0"/>
          </a:xfrm>
          <a:prstGeom prst="straightConnector1">
            <a:avLst/>
          </a:prstGeom>
          <a:noFill/>
          <a:ln cap="flat" cmpd="sng" w="76200">
            <a:solidFill>
              <a:srgbClr val="FF9933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72"/>
          <p:cNvCxnSpPr/>
          <p:nvPr/>
        </p:nvCxnSpPr>
        <p:spPr>
          <a:xfrm>
            <a:off x="9072034" y="908050"/>
            <a:ext cx="3119967" cy="0"/>
          </a:xfrm>
          <a:prstGeom prst="straightConnector1">
            <a:avLst/>
          </a:prstGeom>
          <a:noFill/>
          <a:ln cap="flat" cmpd="sng" w="76200">
            <a:solidFill>
              <a:srgbClr val="FFCC66">
                <a:alpha val="24705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72"/>
          <p:cNvSpPr/>
          <p:nvPr/>
        </p:nvSpPr>
        <p:spPr>
          <a:xfrm>
            <a:off x="11039012" y="6605588"/>
            <a:ext cx="1123949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b="0" i="0" lang="ko-KR" sz="1200" u="none" cap="none" strike="noStrik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/64</a:t>
            </a:r>
            <a:endParaRPr/>
          </a:p>
        </p:txBody>
      </p:sp>
      <p:sp>
        <p:nvSpPr>
          <p:cNvPr id="41" name="Google Shape;41;p72"/>
          <p:cNvSpPr txBox="1"/>
          <p:nvPr>
            <p:ph type="title"/>
          </p:nvPr>
        </p:nvSpPr>
        <p:spPr>
          <a:xfrm>
            <a:off x="334433" y="188913"/>
            <a:ext cx="10081120" cy="54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2"/>
          <p:cNvSpPr txBox="1"/>
          <p:nvPr>
            <p:ph idx="1" type="body"/>
          </p:nvPr>
        </p:nvSpPr>
        <p:spPr>
          <a:xfrm>
            <a:off x="334434" y="1052736"/>
            <a:ext cx="11522207" cy="547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  <a:defRPr b="1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Noto Sans Symbols"/>
              <a:buChar char="▪"/>
              <a:defRPr b="1" sz="2000"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30200" lvl="2" marL="1371600" algn="l">
              <a:spcBef>
                <a:spcPts val="400"/>
              </a:spcBef>
              <a:spcAft>
                <a:spcPts val="0"/>
              </a:spcAft>
              <a:buClr>
                <a:srgbClr val="FF6600"/>
              </a:buClr>
              <a:buSzPts val="1600"/>
              <a:buChar char="•"/>
              <a:defRPr sz="1600"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13944" lvl="3" marL="1828800" algn="l">
              <a:spcBef>
                <a:spcPts val="300"/>
              </a:spcBef>
              <a:spcAft>
                <a:spcPts val="0"/>
              </a:spcAft>
              <a:buClr>
                <a:srgbClr val="FF6600"/>
              </a:buClr>
              <a:buSzPts val="1344"/>
              <a:buChar char="–"/>
              <a:defRPr sz="1400"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rgbClr val="00918E"/>
              </a:buClr>
              <a:buSzPts val="1400"/>
              <a:buChar char="»"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끝">
  <p:cSld name="끝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3"/>
          <p:cNvSpPr txBox="1"/>
          <p:nvPr/>
        </p:nvSpPr>
        <p:spPr>
          <a:xfrm>
            <a:off x="7032104" y="1844824"/>
            <a:ext cx="4703233" cy="132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Q&amp;A</a:t>
            </a:r>
            <a:endParaRPr sz="8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1" name="Google Shape;11;p6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6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6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6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Relationship Id="rId4" Type="http://schemas.openxmlformats.org/officeDocument/2006/relationships/image" Target="../media/image15.png"/><Relationship Id="rId5" Type="http://schemas.openxmlformats.org/officeDocument/2006/relationships/image" Target="../media/image33.png"/><Relationship Id="rId6" Type="http://schemas.openxmlformats.org/officeDocument/2006/relationships/image" Target="../media/image3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Relationship Id="rId4" Type="http://schemas.openxmlformats.org/officeDocument/2006/relationships/image" Target="../media/image40.png"/><Relationship Id="rId5" Type="http://schemas.openxmlformats.org/officeDocument/2006/relationships/image" Target="../media/image38.png"/><Relationship Id="rId6" Type="http://schemas.openxmlformats.org/officeDocument/2006/relationships/image" Target="../media/image5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5.png"/><Relationship Id="rId4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5.png"/><Relationship Id="rId4" Type="http://schemas.openxmlformats.org/officeDocument/2006/relationships/image" Target="../media/image6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7.png"/><Relationship Id="rId4" Type="http://schemas.openxmlformats.org/officeDocument/2006/relationships/image" Target="../media/image42.png"/><Relationship Id="rId5" Type="http://schemas.openxmlformats.org/officeDocument/2006/relationships/image" Target="../media/image50.png"/><Relationship Id="rId6" Type="http://schemas.openxmlformats.org/officeDocument/2006/relationships/image" Target="../media/image4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Relationship Id="rId5" Type="http://schemas.openxmlformats.org/officeDocument/2006/relationships/image" Target="../media/image49.png"/><Relationship Id="rId6" Type="http://schemas.openxmlformats.org/officeDocument/2006/relationships/image" Target="../media/image57.png"/><Relationship Id="rId7" Type="http://schemas.openxmlformats.org/officeDocument/2006/relationships/image" Target="../media/image68.png"/><Relationship Id="rId8" Type="http://schemas.openxmlformats.org/officeDocument/2006/relationships/image" Target="../media/image4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png"/><Relationship Id="rId4" Type="http://schemas.openxmlformats.org/officeDocument/2006/relationships/image" Target="../media/image55.png"/><Relationship Id="rId5" Type="http://schemas.openxmlformats.org/officeDocument/2006/relationships/image" Target="../media/image63.png"/><Relationship Id="rId6" Type="http://schemas.openxmlformats.org/officeDocument/2006/relationships/image" Target="../media/image59.png"/><Relationship Id="rId7" Type="http://schemas.openxmlformats.org/officeDocument/2006/relationships/image" Target="../media/image9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5.png"/><Relationship Id="rId4" Type="http://schemas.openxmlformats.org/officeDocument/2006/relationships/image" Target="../media/image5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5.png"/><Relationship Id="rId4" Type="http://schemas.openxmlformats.org/officeDocument/2006/relationships/image" Target="../media/image5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1.png"/><Relationship Id="rId4" Type="http://schemas.openxmlformats.org/officeDocument/2006/relationships/image" Target="../media/image6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3.png"/><Relationship Id="rId4" Type="http://schemas.openxmlformats.org/officeDocument/2006/relationships/image" Target="../media/image6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3.png"/><Relationship Id="rId4" Type="http://schemas.openxmlformats.org/officeDocument/2006/relationships/image" Target="../media/image62.png"/><Relationship Id="rId5" Type="http://schemas.openxmlformats.org/officeDocument/2006/relationships/image" Target="../media/image71.png"/><Relationship Id="rId6" Type="http://schemas.openxmlformats.org/officeDocument/2006/relationships/image" Target="../media/image6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80.png"/><Relationship Id="rId5" Type="http://schemas.openxmlformats.org/officeDocument/2006/relationships/image" Target="../media/image77.png"/><Relationship Id="rId6" Type="http://schemas.openxmlformats.org/officeDocument/2006/relationships/image" Target="../media/image95.png"/><Relationship Id="rId7" Type="http://schemas.openxmlformats.org/officeDocument/2006/relationships/image" Target="../media/image79.png"/><Relationship Id="rId8" Type="http://schemas.openxmlformats.org/officeDocument/2006/relationships/image" Target="../media/image7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3.png"/><Relationship Id="rId4" Type="http://schemas.openxmlformats.org/officeDocument/2006/relationships/image" Target="../media/image92.png"/><Relationship Id="rId5" Type="http://schemas.openxmlformats.org/officeDocument/2006/relationships/image" Target="../media/image7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3.png"/><Relationship Id="rId4" Type="http://schemas.openxmlformats.org/officeDocument/2006/relationships/image" Target="../media/image87.png"/><Relationship Id="rId5" Type="http://schemas.openxmlformats.org/officeDocument/2006/relationships/image" Target="../media/image8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6.png"/><Relationship Id="rId4" Type="http://schemas.openxmlformats.org/officeDocument/2006/relationships/image" Target="../media/image101.png"/><Relationship Id="rId5" Type="http://schemas.openxmlformats.org/officeDocument/2006/relationships/image" Target="../media/image8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93.png"/><Relationship Id="rId4" Type="http://schemas.openxmlformats.org/officeDocument/2006/relationships/image" Target="../media/image91.png"/><Relationship Id="rId5" Type="http://schemas.openxmlformats.org/officeDocument/2006/relationships/image" Target="../media/image108.png"/><Relationship Id="rId6" Type="http://schemas.openxmlformats.org/officeDocument/2006/relationships/image" Target="../media/image9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98.png"/><Relationship Id="rId4" Type="http://schemas.openxmlformats.org/officeDocument/2006/relationships/image" Target="../media/image10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96.png"/><Relationship Id="rId4" Type="http://schemas.openxmlformats.org/officeDocument/2006/relationships/image" Target="../media/image10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5.png"/><Relationship Id="rId4" Type="http://schemas.openxmlformats.org/officeDocument/2006/relationships/image" Target="../media/image10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1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5.png"/><Relationship Id="rId4" Type="http://schemas.openxmlformats.org/officeDocument/2006/relationships/image" Target="../media/image10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7.png"/><Relationship Id="rId4" Type="http://schemas.openxmlformats.org/officeDocument/2006/relationships/image" Target="../media/image10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1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22.png"/><Relationship Id="rId4" Type="http://schemas.openxmlformats.org/officeDocument/2006/relationships/image" Target="../media/image127.png"/><Relationship Id="rId5" Type="http://schemas.openxmlformats.org/officeDocument/2006/relationships/image" Target="../media/image11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18.png"/><Relationship Id="rId4" Type="http://schemas.openxmlformats.org/officeDocument/2006/relationships/image" Target="../media/image11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28.png"/><Relationship Id="rId4" Type="http://schemas.openxmlformats.org/officeDocument/2006/relationships/image" Target="../media/image11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20.png"/><Relationship Id="rId4" Type="http://schemas.openxmlformats.org/officeDocument/2006/relationships/image" Target="../media/image12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09.png"/><Relationship Id="rId4" Type="http://schemas.openxmlformats.org/officeDocument/2006/relationships/image" Target="../media/image12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16.png"/><Relationship Id="rId4" Type="http://schemas.openxmlformats.org/officeDocument/2006/relationships/image" Target="../media/image113.png"/><Relationship Id="rId5" Type="http://schemas.openxmlformats.org/officeDocument/2006/relationships/image" Target="../media/image12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09.png"/><Relationship Id="rId4" Type="http://schemas.openxmlformats.org/officeDocument/2006/relationships/image" Target="../media/image11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24.png"/><Relationship Id="rId4" Type="http://schemas.openxmlformats.org/officeDocument/2006/relationships/image" Target="../media/image11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3"/>
          <p:cNvGrpSpPr/>
          <p:nvPr/>
        </p:nvGrpSpPr>
        <p:grpSpPr>
          <a:xfrm>
            <a:off x="2166938" y="3309939"/>
            <a:ext cx="6953250" cy="719137"/>
            <a:chOff x="643260" y="3173386"/>
            <a:chExt cx="6953076" cy="720000"/>
          </a:xfrm>
        </p:grpSpPr>
        <p:sp>
          <p:nvSpPr>
            <p:cNvPr id="59" name="Google Shape;59;p3"/>
            <p:cNvSpPr/>
            <p:nvPr/>
          </p:nvSpPr>
          <p:spPr>
            <a:xfrm>
              <a:off x="643260" y="3225836"/>
              <a:ext cx="728644" cy="608743"/>
            </a:xfrm>
            <a:prstGeom prst="snipRoundRect">
              <a:avLst>
                <a:gd fmla="val 29583" name="adj1"/>
                <a:gd fmla="val 0" name="adj2"/>
              </a:avLst>
            </a:prstGeom>
            <a:solidFill>
              <a:srgbClr val="FABF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32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754595" y="3294665"/>
              <a:ext cx="5405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400" u="none" cap="none" strike="noStrike">
                  <a:solidFill>
                    <a:srgbClr val="0A1E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03</a:t>
              </a:r>
              <a:endParaRPr b="1" i="0" sz="2400" u="none" cap="none" strike="noStrik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359204" y="3173386"/>
              <a:ext cx="6237132" cy="720000"/>
            </a:xfrm>
            <a:prstGeom prst="roundRect">
              <a:avLst>
                <a:gd fmla="val 2291" name="adj"/>
              </a:avLst>
            </a:prstGeom>
            <a:solidFill>
              <a:srgbClr val="F2F2F2">
                <a:alpha val="32549"/>
              </a:srgbClr>
            </a:solidFill>
            <a:ln cap="flat" cmpd="sng" w="38100">
              <a:solidFill>
                <a:srgbClr val="E4E4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496616" y="3318602"/>
              <a:ext cx="4824536" cy="4026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000" u="none" cap="none" strike="noStrike">
                  <a:solidFill>
                    <a:srgbClr val="242424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모집단 비율 및 분산의 가설검정</a:t>
              </a:r>
              <a:endParaRPr b="1" i="0" sz="20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3" name="Google Shape;63;p3"/>
          <p:cNvGrpSpPr/>
          <p:nvPr/>
        </p:nvGrpSpPr>
        <p:grpSpPr>
          <a:xfrm>
            <a:off x="2166938" y="1057275"/>
            <a:ext cx="6953250" cy="719138"/>
            <a:chOff x="643260" y="980728"/>
            <a:chExt cx="6953076" cy="720000"/>
          </a:xfrm>
        </p:grpSpPr>
        <p:sp>
          <p:nvSpPr>
            <p:cNvPr id="64" name="Google Shape;64;p3"/>
            <p:cNvSpPr/>
            <p:nvPr/>
          </p:nvSpPr>
          <p:spPr>
            <a:xfrm>
              <a:off x="643260" y="1033179"/>
              <a:ext cx="728644" cy="608741"/>
            </a:xfrm>
            <a:prstGeom prst="snipRoundRect">
              <a:avLst>
                <a:gd fmla="val 29583" name="adj1"/>
                <a:gd fmla="val 0" name="adj2"/>
              </a:avLst>
            </a:prstGeom>
            <a:solidFill>
              <a:srgbClr val="FABF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32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754594" y="1101879"/>
              <a:ext cx="5405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400" u="none" cap="none" strike="noStrike">
                  <a:solidFill>
                    <a:srgbClr val="0A1E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01</a:t>
              </a:r>
              <a:endParaRPr b="1" i="0" sz="2400" u="none" cap="none" strike="noStrik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359204" y="980728"/>
              <a:ext cx="6237132" cy="720000"/>
            </a:xfrm>
            <a:prstGeom prst="roundRect">
              <a:avLst>
                <a:gd fmla="val 2291" name="adj"/>
              </a:avLst>
            </a:prstGeom>
            <a:solidFill>
              <a:srgbClr val="F2F2F2">
                <a:alpha val="32549"/>
              </a:srgbClr>
            </a:solidFill>
            <a:ln cap="flat" cmpd="sng" w="38100">
              <a:solidFill>
                <a:srgbClr val="E4E4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1496616" y="1135069"/>
              <a:ext cx="4824536" cy="402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000" u="none" cap="none" strike="noStrike">
                  <a:solidFill>
                    <a:srgbClr val="242424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가설검정과 유의수준</a:t>
              </a:r>
              <a:endParaRPr b="1" i="0" sz="20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8" name="Google Shape;68;p3"/>
          <p:cNvGrpSpPr/>
          <p:nvPr/>
        </p:nvGrpSpPr>
        <p:grpSpPr>
          <a:xfrm>
            <a:off x="2166938" y="2178051"/>
            <a:ext cx="6953250" cy="720725"/>
            <a:chOff x="643260" y="2077057"/>
            <a:chExt cx="6953076" cy="720000"/>
          </a:xfrm>
        </p:grpSpPr>
        <p:sp>
          <p:nvSpPr>
            <p:cNvPr id="69" name="Google Shape;69;p3"/>
            <p:cNvSpPr/>
            <p:nvPr/>
          </p:nvSpPr>
          <p:spPr>
            <a:xfrm>
              <a:off x="643260" y="2148423"/>
              <a:ext cx="728644" cy="608987"/>
            </a:xfrm>
            <a:prstGeom prst="snipRoundRect">
              <a:avLst>
                <a:gd fmla="val 29583" name="adj1"/>
                <a:gd fmla="val 0" name="adj2"/>
              </a:avLst>
            </a:prstGeom>
            <a:solidFill>
              <a:srgbClr val="FABF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32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1359204" y="2077057"/>
              <a:ext cx="6237132" cy="720000"/>
            </a:xfrm>
            <a:prstGeom prst="roundRect">
              <a:avLst>
                <a:gd fmla="val 2291" name="adj"/>
              </a:avLst>
            </a:prstGeom>
            <a:solidFill>
              <a:srgbClr val="F2F2F2">
                <a:alpha val="32549"/>
              </a:srgbClr>
            </a:solidFill>
            <a:ln cap="flat" cmpd="sng" w="38100">
              <a:solidFill>
                <a:srgbClr val="E4E4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1496616" y="2227029"/>
              <a:ext cx="4824536" cy="401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000" u="none" cap="none" strike="noStrike">
                  <a:solidFill>
                    <a:srgbClr val="242424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모집단 평균의 가설검정</a:t>
              </a:r>
              <a:endParaRPr b="1" i="0" sz="20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72" name="Google Shape;72;p3"/>
          <p:cNvSpPr/>
          <p:nvPr/>
        </p:nvSpPr>
        <p:spPr>
          <a:xfrm>
            <a:off x="2279577" y="2319264"/>
            <a:ext cx="5405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1" i="0" sz="2400" u="none" cap="none" strike="noStrike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73;p3"/>
          <p:cNvSpPr txBox="1"/>
          <p:nvPr>
            <p:ph type="title"/>
          </p:nvPr>
        </p:nvSpPr>
        <p:spPr>
          <a:xfrm>
            <a:off x="84667" y="35744"/>
            <a:ext cx="10380133" cy="474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목 차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2279650" y="1299989"/>
            <a:ext cx="6622326" cy="835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4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가설검정과 유의수준</a:t>
            </a:r>
            <a:endParaRPr b="1" i="0" sz="4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3131201" y="3319475"/>
            <a:ext cx="6912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rgbClr val="FF66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:: Keywords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가설검정 | 가설검정의 절차 | 유의수준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가설검정의 오류 | 양측검정 | 단측검정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가설검정과 유의수준</a:t>
            </a:r>
            <a:endParaRPr/>
          </a:p>
        </p:txBody>
      </p:sp>
      <p:pic>
        <p:nvPicPr>
          <p:cNvPr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9516" y="1196752"/>
            <a:ext cx="8712968" cy="523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가설검정</a:t>
            </a:r>
            <a:endParaRPr/>
          </a:p>
        </p:txBody>
      </p:sp>
      <p:sp>
        <p:nvSpPr>
          <p:cNvPr id="91" name="Google Shape;91;p6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가설(hypothesis)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주어진 사실 혹은 조사하고자 하는 사실이 어떠하다는 주장이나 추측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b="0" lang="ko-KR" sz="1800">
                <a:solidFill>
                  <a:schemeClr val="dk1"/>
                </a:solidFill>
              </a:rPr>
              <a:t>모수를 추정할 때, 모수가 어떠하다(혹은 어떠할 것이다)는</a:t>
            </a:r>
            <a:br>
              <a:rPr b="0" lang="ko-KR" sz="1800">
                <a:solidFill>
                  <a:schemeClr val="dk1"/>
                </a:solidFill>
              </a:rPr>
            </a:br>
            <a:r>
              <a:rPr b="0" lang="ko-KR" sz="1800">
                <a:solidFill>
                  <a:schemeClr val="dk1"/>
                </a:solidFill>
              </a:rPr>
              <a:t>조사자의 주장이나 추측을 일컬음</a:t>
            </a:r>
            <a:endParaRPr b="0" sz="1800">
              <a:solidFill>
                <a:schemeClr val="dk1"/>
              </a:solidFill>
            </a:endParaRPr>
          </a:p>
          <a:p>
            <a:pPr indent="-1524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가설검정</a:t>
            </a:r>
            <a:endParaRPr/>
          </a:p>
        </p:txBody>
      </p:sp>
      <p:sp>
        <p:nvSpPr>
          <p:cNvPr id="97" name="Google Shape;97;p7"/>
          <p:cNvSpPr txBox="1"/>
          <p:nvPr>
            <p:ph idx="1" type="body"/>
          </p:nvPr>
        </p:nvSpPr>
        <p:spPr>
          <a:xfrm>
            <a:off x="334434" y="1052736"/>
            <a:ext cx="10730117" cy="547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귀무가설(歸無假說, null hypothesis)</a:t>
            </a:r>
            <a:endParaRPr/>
          </a:p>
        </p:txBody>
      </p:sp>
      <p:sp>
        <p:nvSpPr>
          <p:cNvPr id="98" name="Google Shape;98;p7"/>
          <p:cNvSpPr txBox="1"/>
          <p:nvPr/>
        </p:nvSpPr>
        <p:spPr>
          <a:xfrm>
            <a:off x="1127448" y="1772816"/>
            <a:ext cx="9937104" cy="302433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5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pic>
        <p:nvPicPr>
          <p:cNvPr id="99" name="Google Shape;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1664" y="5468308"/>
            <a:ext cx="5254605" cy="35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가설검정</a:t>
            </a:r>
            <a:endParaRPr/>
          </a:p>
        </p:txBody>
      </p:sp>
      <p:sp>
        <p:nvSpPr>
          <p:cNvPr id="105" name="Google Shape;105;p8"/>
          <p:cNvSpPr txBox="1"/>
          <p:nvPr>
            <p:ph idx="1" type="body"/>
          </p:nvPr>
        </p:nvSpPr>
        <p:spPr>
          <a:xfrm>
            <a:off x="334435" y="1052736"/>
            <a:ext cx="633763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대립 가설(代立假設, antihypothesis)</a:t>
            </a:r>
            <a:endParaRPr/>
          </a:p>
        </p:txBody>
      </p:sp>
      <p:sp>
        <p:nvSpPr>
          <p:cNvPr id="106" name="Google Shape;106;p8"/>
          <p:cNvSpPr txBox="1"/>
          <p:nvPr/>
        </p:nvSpPr>
        <p:spPr>
          <a:xfrm>
            <a:off x="1199456" y="1556792"/>
            <a:ext cx="9793088" cy="24482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744" l="-55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pic>
        <p:nvPicPr>
          <p:cNvPr id="107" name="Google Shape;10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3182" y="4005064"/>
            <a:ext cx="592455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가설검정의 오류</a:t>
            </a:r>
            <a:endParaRPr/>
          </a:p>
        </p:txBody>
      </p:sp>
      <p:sp>
        <p:nvSpPr>
          <p:cNvPr id="113" name="Google Shape;113;p9"/>
          <p:cNvSpPr txBox="1"/>
          <p:nvPr/>
        </p:nvSpPr>
        <p:spPr>
          <a:xfrm>
            <a:off x="658913" y="994742"/>
            <a:ext cx="9793088" cy="4234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통계적 판단 = 가설을 검정한다는 의미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가설검정은 통계량으로 모수를 추정하는 과정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∴ 아무리 정확히 추정하더라도 가설과 모수 사이에는 항상 오차가 발생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 모수를 추정할 때는 항상 오류 가능성(확률)을 제시해야 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통계적 의사결정에서 틀리지 않는 것이 목적이라면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🡪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추정된 모수의 틀릴 확률을 낮게 잡으면 된다.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🡪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오차를 최소한으로 줄여 0에 가깝게 만들어야 의사결정의 실패를 줄일 수 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반면, 의사결정의 오류와 상 관없이 특정한 수치를 도출하는 것이 목적이라면</a:t>
            </a: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표본으로부터 계산한 결과를 정확하게 제시하면 된다.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가설검정의 오류</a:t>
            </a:r>
            <a:endParaRPr/>
          </a:p>
        </p:txBody>
      </p:sp>
      <p:pic>
        <p:nvPicPr>
          <p:cNvPr id="119" name="Google Shape;1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3512" y="1628800"/>
            <a:ext cx="8857702" cy="3672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가설검정의 오류</a:t>
            </a:r>
            <a:endParaRPr/>
          </a:p>
        </p:txBody>
      </p:sp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3472" y="1268760"/>
            <a:ext cx="14859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/>
          <p:nvPr/>
        </p:nvSpPr>
        <p:spPr>
          <a:xfrm>
            <a:off x="1415480" y="1772816"/>
            <a:ext cx="10009112" cy="294535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82" l="-48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양측검정과 단측검정</a:t>
            </a:r>
            <a:endParaRPr/>
          </a:p>
        </p:txBody>
      </p:sp>
      <p:sp>
        <p:nvSpPr>
          <p:cNvPr id="132" name="Google Shape;132;p12"/>
          <p:cNvSpPr txBox="1"/>
          <p:nvPr>
            <p:ph idx="1" type="body"/>
          </p:nvPr>
        </p:nvSpPr>
        <p:spPr>
          <a:xfrm>
            <a:off x="1774825" y="1066801"/>
            <a:ext cx="8642350" cy="506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기각의 판단 기준은 양측검정과 단측검정으로 구분</a:t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1774825" y="1598428"/>
            <a:ext cx="8642350" cy="561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Noto Sans Symbols"/>
              <a:buChar char="🡪"/>
            </a:pPr>
            <a:r>
              <a:rPr b="1" lang="ko-KR"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조사 결과가 유의수준 α에 포함되면 기각, 포함되지 않으면 채택</a:t>
            </a:r>
            <a:endParaRPr b="1"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66700" lvl="0" marL="266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Noto Sans Symbols"/>
              <a:buChar char="🡪"/>
            </a:pPr>
            <a:r>
              <a:rPr b="1" lang="ko-KR"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채택/기각의 기준은 항상 귀무가설</a:t>
            </a:r>
            <a:endParaRPr b="1"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양측검정과 단측검정</a:t>
            </a:r>
            <a:endParaRPr/>
          </a:p>
        </p:txBody>
      </p:sp>
      <p:sp>
        <p:nvSpPr>
          <p:cNvPr id="139" name="Google Shape;139;p13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양측검정(two-sided test)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조사하고자 하는 대립가설, 즉 ‘사실이 아니다’라는 것을 검정하여 귀무가설을 기각하고 대립가설을 채택하고자 하는 것</a:t>
            </a:r>
            <a:endParaRPr b="0" sz="1800">
              <a:solidFill>
                <a:schemeClr val="dk1"/>
              </a:solidFill>
            </a:endParaRPr>
          </a:p>
        </p:txBody>
      </p:sp>
      <p:pic>
        <p:nvPicPr>
          <p:cNvPr id="140" name="Google Shape;1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7888" y="2882900"/>
            <a:ext cx="1882241" cy="679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3258" y="3891210"/>
            <a:ext cx="5065484" cy="254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양측검정과 단측검정</a:t>
            </a:r>
            <a:endParaRPr/>
          </a:p>
        </p:txBody>
      </p:sp>
      <p:sp>
        <p:nvSpPr>
          <p:cNvPr id="147" name="Google Shape;147;p14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단측검정(one-sided test)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조사의 목적에 따라 대립가설을 스포츠 이온음료의 용량이 300ml보다 적다고 수립하거나, 혹은 300ml보다 많다고 수립하여 한 쪽만 살펴보는 것</a:t>
            </a:r>
            <a:endParaRPr b="0" sz="1800">
              <a:solidFill>
                <a:schemeClr val="dk1"/>
              </a:solidFill>
            </a:endParaRPr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7654" y="2924944"/>
            <a:ext cx="4296692" cy="622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9064" y="4161236"/>
            <a:ext cx="8413872" cy="2487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가설검정의 절차</a:t>
            </a:r>
            <a:endParaRPr/>
          </a:p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1911350" y="2475582"/>
            <a:ext cx="8369300" cy="4239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569" l="-65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 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1638300" y="2129607"/>
            <a:ext cx="8642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None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가설수립</a:t>
            </a:r>
            <a:endParaRPr b="1" sz="2200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1638300" y="3520257"/>
            <a:ext cx="8642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None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유의수준 결정</a:t>
            </a:r>
            <a:endParaRPr b="1" sz="2200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1911350" y="3904332"/>
            <a:ext cx="8369300" cy="4239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24285" l="-65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1638300" y="5133157"/>
            <a:ext cx="8642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None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기각역 설정</a:t>
            </a:r>
            <a:endParaRPr b="1" sz="2200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1911350" y="5517232"/>
            <a:ext cx="8369300" cy="42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조사의 성격에 따라 양측검정을 할 것인지 단측검정을 할 것인지를 정해 기각역을 설정한다. </a:t>
            </a:r>
            <a:endParaRPr/>
          </a:p>
        </p:txBody>
      </p:sp>
      <p:pic>
        <p:nvPicPr>
          <p:cNvPr id="161" name="Google Shape;16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74826" y="1215827"/>
            <a:ext cx="8284542" cy="639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가설검정의 절차</a:t>
            </a:r>
            <a:endParaRPr/>
          </a:p>
        </p:txBody>
      </p:sp>
      <p:sp>
        <p:nvSpPr>
          <p:cNvPr id="167" name="Google Shape;167;p16"/>
          <p:cNvSpPr txBox="1"/>
          <p:nvPr>
            <p:ph idx="1" type="body"/>
          </p:nvPr>
        </p:nvSpPr>
        <p:spPr>
          <a:xfrm>
            <a:off x="2047875" y="1412776"/>
            <a:ext cx="8369300" cy="42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수집된 표본을 대상으로 조사에 필요한 통계랑을 계산한 후 기각역과 비교한다. 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1774825" y="1066801"/>
            <a:ext cx="8642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None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통계량의 계산</a:t>
            </a:r>
            <a:endParaRPr b="1" sz="2200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1774825" y="2457451"/>
            <a:ext cx="8642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None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의사결정</a:t>
            </a:r>
            <a:endParaRPr b="1" sz="2200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2047875" y="2841526"/>
            <a:ext cx="8369300" cy="42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가각역과 비교한 후에 귀무가설과 대립가설 중 어떤 가설을 채택할 것인지를 결정한다.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가설검정의 절차</a:t>
            </a:r>
            <a:endParaRPr/>
          </a:p>
        </p:txBody>
      </p:sp>
      <p:pic>
        <p:nvPicPr>
          <p:cNvPr id="176" name="Google Shape;176;p17"/>
          <p:cNvPicPr preferRelativeResize="0"/>
          <p:nvPr/>
        </p:nvPicPr>
        <p:blipFill rotWithShape="1">
          <a:blip r:embed="rId3">
            <a:alphaModFix/>
          </a:blip>
          <a:srcRect b="40550" l="0" r="0" t="0"/>
          <a:stretch/>
        </p:blipFill>
        <p:spPr>
          <a:xfrm>
            <a:off x="2513602" y="1235173"/>
            <a:ext cx="7164796" cy="4387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가설검정의 절차</a:t>
            </a:r>
            <a:endParaRPr/>
          </a:p>
        </p:txBody>
      </p:sp>
      <p:pic>
        <p:nvPicPr>
          <p:cNvPr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1739" y="983624"/>
            <a:ext cx="7128521" cy="5693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가설검정의 기본 요소</a:t>
            </a:r>
            <a:endParaRPr/>
          </a:p>
        </p:txBody>
      </p:sp>
      <p:sp>
        <p:nvSpPr>
          <p:cNvPr id="188" name="Google Shape;188;p19"/>
          <p:cNvSpPr txBox="1"/>
          <p:nvPr>
            <p:ph idx="1" type="body"/>
          </p:nvPr>
        </p:nvSpPr>
        <p:spPr>
          <a:xfrm>
            <a:off x="623392" y="1066801"/>
            <a:ext cx="11449272" cy="337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무작위 추출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ko-KR">
                <a:solidFill>
                  <a:schemeClr val="dk1"/>
                </a:solidFill>
              </a:rPr>
              <a:t>   🡪 표본을 모집단으로부터 추출할 때 무작위로 추출해야 한다.</a:t>
            </a:r>
            <a:endParaRPr/>
          </a:p>
          <a:p>
            <a:pPr indent="-12700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6670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통계적 독립성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ko-KR">
                <a:solidFill>
                  <a:schemeClr val="dk1"/>
                </a:solidFill>
              </a:rPr>
              <a:t>   🡪 표본으로부터 관측치를 수집할 때</a:t>
            </a:r>
            <a:br>
              <a:rPr lang="ko-KR">
                <a:solidFill>
                  <a:schemeClr val="dk1"/>
                </a:solidFill>
              </a:rPr>
            </a:br>
            <a:r>
              <a:rPr lang="ko-KR">
                <a:solidFill>
                  <a:schemeClr val="dk1"/>
                </a:solidFill>
              </a:rPr>
              <a:t>       어떤 하나의 관측치가 다른 관측치에 영향을 미치지 않아야 한다.</a:t>
            </a:r>
            <a:endParaRPr/>
          </a:p>
          <a:p>
            <a:pPr indent="-26670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정규성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ko-KR">
                <a:solidFill>
                  <a:schemeClr val="dk1"/>
                </a:solidFill>
              </a:rPr>
              <a:t>   🡪 표본을 구성하는 관측치는 충분히 많아서 분포가 정규분포를 구성해야 한다.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6670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등분산성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ko-KR">
                <a:solidFill>
                  <a:schemeClr val="dk1"/>
                </a:solidFill>
              </a:rPr>
              <a:t>   🡪 둘 이상의 표본을 비교하는 가설검정을 하는 경우 이 두 집단은 서로 등분산을 구성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6670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표본의 크기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ko-KR">
                <a:solidFill>
                  <a:schemeClr val="dk1"/>
                </a:solidFill>
              </a:rPr>
              <a:t>   🡪 표본의 크기를 늘리면 표준오차가 줄어들어</a:t>
            </a:r>
            <a:br>
              <a:rPr lang="ko-KR">
                <a:solidFill>
                  <a:schemeClr val="dk1"/>
                </a:solidFill>
              </a:rPr>
            </a:br>
            <a:r>
              <a:rPr lang="ko-KR">
                <a:solidFill>
                  <a:schemeClr val="dk1"/>
                </a:solidFill>
              </a:rPr>
              <a:t>       모수에 접근하게 되므로 통계적 검정력은 높아진다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/>
          <p:nvPr/>
        </p:nvSpPr>
        <p:spPr>
          <a:xfrm>
            <a:off x="2279651" y="1299989"/>
            <a:ext cx="7415813" cy="835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모집단 평균의 가설검정</a:t>
            </a:r>
            <a:endParaRPr b="1" sz="4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216276" y="2349501"/>
            <a:ext cx="691197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FF66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:: Keywords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모분산을 아는 경우의 가설검정</a:t>
            </a:r>
            <a:b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</a:t>
            </a:r>
            <a:r>
              <a:rPr b="1"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모분산을 모르는 경우의 가설검정</a:t>
            </a:r>
            <a:b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p값을 이용한 가설검정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모분산을 아는 경우의 가설검정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1774825" y="1066801"/>
            <a:ext cx="8642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가설을 수립</a:t>
            </a:r>
            <a:endParaRPr b="1" sz="2200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21"/>
          <p:cNvSpPr txBox="1"/>
          <p:nvPr>
            <p:ph idx="1" type="body"/>
          </p:nvPr>
        </p:nvSpPr>
        <p:spPr>
          <a:xfrm>
            <a:off x="2047875" y="1735807"/>
            <a:ext cx="8369300" cy="42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귀무가설을 모평균이 계산된 특정 값과 동일하므로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2047875" y="3142679"/>
            <a:ext cx="8369300" cy="42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대립가설은 양측검정의 경우 모평균이 특정 갑과 동일하지 않으므로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03" name="Google Shape;203;p21"/>
          <p:cNvPicPr preferRelativeResize="0"/>
          <p:nvPr/>
        </p:nvPicPr>
        <p:blipFill rotWithShape="1">
          <a:blip r:embed="rId3">
            <a:alphaModFix/>
          </a:blip>
          <a:srcRect b="77387" l="35124" r="42194" t="10680"/>
          <a:stretch/>
        </p:blipFill>
        <p:spPr>
          <a:xfrm>
            <a:off x="5156200" y="2291531"/>
            <a:ext cx="1460500" cy="498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33504" l="35124" r="42194" t="54562"/>
          <a:stretch/>
        </p:blipFill>
        <p:spPr>
          <a:xfrm>
            <a:off x="5087888" y="3685703"/>
            <a:ext cx="1460500" cy="49837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3289300" y="4780979"/>
            <a:ext cx="7127875" cy="42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단측검정의 경우에는 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06" name="Google Shape;206;p21"/>
          <p:cNvGrpSpPr/>
          <p:nvPr/>
        </p:nvGrpSpPr>
        <p:grpSpPr>
          <a:xfrm>
            <a:off x="5663952" y="4688136"/>
            <a:ext cx="3847008" cy="973113"/>
            <a:chOff x="3746624" y="4975820"/>
            <a:chExt cx="3847008" cy="973113"/>
          </a:xfrm>
        </p:grpSpPr>
        <p:pic>
          <p:nvPicPr>
            <p:cNvPr id="207" name="Google Shape;207;p21"/>
            <p:cNvPicPr preferRelativeResize="0"/>
            <p:nvPr/>
          </p:nvPicPr>
          <p:blipFill rotWithShape="1">
            <a:blip r:embed="rId3">
              <a:alphaModFix/>
            </a:blip>
            <a:srcRect b="0" l="55044" r="0" t="79320"/>
            <a:stretch/>
          </p:blipFill>
          <p:spPr>
            <a:xfrm>
              <a:off x="4699000" y="5085184"/>
              <a:ext cx="2894632" cy="8637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21"/>
            <p:cNvSpPr txBox="1"/>
            <p:nvPr/>
          </p:nvSpPr>
          <p:spPr>
            <a:xfrm>
              <a:off x="3746624" y="4975820"/>
              <a:ext cx="1041400" cy="863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6600"/>
                </a:buClr>
                <a:buSzPts val="1600"/>
                <a:buFont typeface="Noto Sans Symbols"/>
                <a:buNone/>
              </a:pPr>
              <a:r>
                <a:rPr b="0" lang="ko-KR" sz="16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좌측검정 </a:t>
              </a:r>
              <a:endParaRPr/>
            </a:p>
            <a:p>
              <a:pPr indent="0" lvl="0" marL="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6600"/>
                </a:buClr>
                <a:buSzPts val="1600"/>
                <a:buFont typeface="Noto Sans Symbols"/>
                <a:buNone/>
              </a:pPr>
              <a:r>
                <a:rPr b="0" lang="ko-KR" sz="16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우측검정</a:t>
              </a:r>
              <a:endParaRPr b="0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모분산을 아는 경우의 가설검정</a:t>
            </a:r>
            <a:endParaRPr/>
          </a:p>
        </p:txBody>
      </p:sp>
      <p:sp>
        <p:nvSpPr>
          <p:cNvPr id="214" name="Google Shape;214;p22"/>
          <p:cNvSpPr txBox="1"/>
          <p:nvPr>
            <p:ph idx="1" type="body"/>
          </p:nvPr>
        </p:nvSpPr>
        <p:spPr>
          <a:xfrm>
            <a:off x="1774825" y="1066801"/>
            <a:ext cx="8642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유의수준의 결정</a:t>
            </a:r>
            <a:endParaRPr/>
          </a:p>
        </p:txBody>
      </p:sp>
      <p:pic>
        <p:nvPicPr>
          <p:cNvPr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9858" y="4019551"/>
            <a:ext cx="4548281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2047875" y="1735807"/>
            <a:ext cx="8369300" cy="4239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0434" l="-65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2047875" y="2356980"/>
            <a:ext cx="4391025" cy="42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양측검정이면                                , 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8" name="Google Shape;218;p22"/>
          <p:cNvPicPr preferRelativeResize="0"/>
          <p:nvPr/>
        </p:nvPicPr>
        <p:blipFill rotWithShape="1">
          <a:blip r:embed="rId5">
            <a:alphaModFix/>
          </a:blip>
          <a:srcRect b="9500" l="0" r="0" t="0"/>
          <a:stretch/>
        </p:blipFill>
        <p:spPr>
          <a:xfrm>
            <a:off x="3635376" y="2360749"/>
            <a:ext cx="2479675" cy="53024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2047875" y="3391757"/>
            <a:ext cx="4391025" cy="42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검정통계량은 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2047875" y="4325207"/>
            <a:ext cx="4391025" cy="42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Z의 절대값이 1.96보다 크면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21" name="Google Shape;221;p22"/>
          <p:cNvPicPr preferRelativeResize="0"/>
          <p:nvPr/>
        </p:nvPicPr>
        <p:blipFill rotWithShape="1">
          <a:blip r:embed="rId6">
            <a:alphaModFix/>
          </a:blip>
          <a:srcRect b="0" l="2362" r="0" t="0"/>
          <a:stretch/>
        </p:blipFill>
        <p:spPr>
          <a:xfrm>
            <a:off x="5086912" y="4428565"/>
            <a:ext cx="1264059" cy="3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2047875" y="4858607"/>
            <a:ext cx="4391025" cy="42394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8569" l="-124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pic>
        <p:nvPicPr>
          <p:cNvPr id="223" name="Google Shape;22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5938" y="3332262"/>
            <a:ext cx="1296144" cy="659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8239" y="3965600"/>
            <a:ext cx="4733925" cy="227171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모분산을 아는 경우의 가설검정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1774825" y="1066801"/>
            <a:ext cx="8642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유의수준의 결정</a:t>
            </a:r>
            <a:endParaRPr b="1" sz="2200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2047875" y="1735807"/>
            <a:ext cx="8369300" cy="4239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0434" l="-65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2047875" y="2383507"/>
            <a:ext cx="8369300" cy="42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좌측검정이면 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3" name="Google Shape;23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78226" y="2336801"/>
            <a:ext cx="3014449" cy="55244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2047875" y="2924944"/>
            <a:ext cx="8369300" cy="42394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0434" l="-65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모분산을 아는 경우의 가설검정</a:t>
            </a:r>
            <a:endParaRPr/>
          </a:p>
        </p:txBody>
      </p:sp>
      <p:pic>
        <p:nvPicPr>
          <p:cNvPr id="240" name="Google Shape;2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8239" y="3868738"/>
            <a:ext cx="4733925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1774825" y="1066801"/>
            <a:ext cx="8642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유의수준의 결정</a:t>
            </a:r>
            <a:endParaRPr b="1" sz="2200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2047875" y="1735807"/>
            <a:ext cx="8369300" cy="4239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0434" l="-65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2047875" y="2383507"/>
            <a:ext cx="8369300" cy="42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우측검정이면 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2047875" y="2924944"/>
            <a:ext cx="8369300" cy="4239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0434" l="-65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pic>
        <p:nvPicPr>
          <p:cNvPr id="245" name="Google Shape;24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1400" y="2377247"/>
            <a:ext cx="2235200" cy="400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모분산을 아는 경우의 가설검정</a:t>
            </a:r>
            <a:endParaRPr/>
          </a:p>
        </p:txBody>
      </p:sp>
      <p:pic>
        <p:nvPicPr>
          <p:cNvPr id="251" name="Google Shape;2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5500" y="1484784"/>
            <a:ext cx="9001000" cy="1823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모분산을 아는 경우의 가설검정 (예제 풀이)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1774825" y="1066801"/>
            <a:ext cx="8642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유의수준의 결정</a:t>
            </a:r>
            <a:endParaRPr b="1" sz="2200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8" name="Google Shape;258;p26"/>
          <p:cNvSpPr txBox="1"/>
          <p:nvPr/>
        </p:nvSpPr>
        <p:spPr>
          <a:xfrm>
            <a:off x="2047875" y="1735807"/>
            <a:ext cx="8369300" cy="4239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1880" l="-65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259" name="Google Shape;259;p26"/>
          <p:cNvSpPr txBox="1"/>
          <p:nvPr/>
        </p:nvSpPr>
        <p:spPr>
          <a:xfrm>
            <a:off x="2047875" y="2276872"/>
            <a:ext cx="8369300" cy="4239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28979" l="-65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2047875" y="4005064"/>
            <a:ext cx="8369300" cy="42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검정통계량을 구하면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p26"/>
          <p:cNvSpPr txBox="1"/>
          <p:nvPr/>
        </p:nvSpPr>
        <p:spPr>
          <a:xfrm>
            <a:off x="2047875" y="4797152"/>
            <a:ext cx="8369300" cy="129614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6100" l="-65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pic>
        <p:nvPicPr>
          <p:cNvPr id="262" name="Google Shape;26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11824" y="3912238"/>
            <a:ext cx="3705225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모분산을 아는 경우의 가설검정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68" name="Google Shape;2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6" y="4652963"/>
            <a:ext cx="7489825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9169" y="1268760"/>
            <a:ext cx="8713662" cy="3207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모분산을 아는 경우의 가설검정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6" y="4652963"/>
            <a:ext cx="7489825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8299" y="1268760"/>
            <a:ext cx="8455401" cy="3096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모분산을 모르는 경우의 가설검정</a:t>
            </a:r>
            <a:endParaRPr/>
          </a:p>
        </p:txBody>
      </p:sp>
      <p:sp>
        <p:nvSpPr>
          <p:cNvPr id="282" name="Google Shape;282;p29"/>
          <p:cNvSpPr txBox="1"/>
          <p:nvPr/>
        </p:nvSpPr>
        <p:spPr>
          <a:xfrm>
            <a:off x="1774825" y="1066801"/>
            <a:ext cx="8642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표본이 큰 경우의 가설검정</a:t>
            </a:r>
            <a:endParaRPr b="1" sz="2200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1774825" y="3717032"/>
            <a:ext cx="8642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표본이 작은 경우의 가설검정</a:t>
            </a:r>
            <a:endParaRPr b="1" sz="2200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2047875" y="1519783"/>
            <a:ext cx="8505825" cy="4239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17135" l="-64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285" name="Google Shape;285;p29"/>
          <p:cNvSpPr txBox="1"/>
          <p:nvPr/>
        </p:nvSpPr>
        <p:spPr>
          <a:xfrm>
            <a:off x="2047875" y="4224883"/>
            <a:ext cx="8505825" cy="42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표본이 충분하지 못한 경우는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6" name="Google Shape;286;p29"/>
          <p:cNvSpPr txBox="1"/>
          <p:nvPr/>
        </p:nvSpPr>
        <p:spPr>
          <a:xfrm>
            <a:off x="2047875" y="4949268"/>
            <a:ext cx="8505825" cy="4239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0434" l="-64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pic>
        <p:nvPicPr>
          <p:cNvPr id="287" name="Google Shape;28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2064" y="2723239"/>
            <a:ext cx="1944216" cy="592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9696" y="4908829"/>
            <a:ext cx="1584176" cy="617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0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모분산을 모르는 경우의 가설검정</a:t>
            </a:r>
            <a:endParaRPr/>
          </a:p>
        </p:txBody>
      </p:sp>
      <p:pic>
        <p:nvPicPr>
          <p:cNvPr id="294" name="Google Shape;29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1604" y="968119"/>
            <a:ext cx="7128792" cy="577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모분산을 모르는 경우의 가설검정</a:t>
            </a:r>
            <a:endParaRPr/>
          </a:p>
        </p:txBody>
      </p:sp>
      <p:pic>
        <p:nvPicPr>
          <p:cNvPr id="300" name="Google Shape;30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3492" y="1412776"/>
            <a:ext cx="9145016" cy="3136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모분산을 모르는 경우의 가설검정 (예제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06" name="Google Shape;30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7686" y="1412776"/>
            <a:ext cx="2505075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5880" y="1736626"/>
            <a:ext cx="18097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7686" y="2420888"/>
            <a:ext cx="44672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23592" y="3175819"/>
            <a:ext cx="38766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23592" y="4179938"/>
            <a:ext cx="87534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23592" y="5302349"/>
            <a:ext cx="186690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모분산을 모르는 경우의 가설검정 (예제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17" name="Google Shape;31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5924" y="3645024"/>
            <a:ext cx="4962525" cy="24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3"/>
          <p:cNvSpPr txBox="1"/>
          <p:nvPr/>
        </p:nvSpPr>
        <p:spPr>
          <a:xfrm>
            <a:off x="1847529" y="1293752"/>
            <a:ext cx="3318395" cy="4239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8569" l="-147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319" name="Google Shape;319;p33"/>
          <p:cNvSpPr txBox="1"/>
          <p:nvPr/>
        </p:nvSpPr>
        <p:spPr>
          <a:xfrm>
            <a:off x="1847529" y="2093852"/>
            <a:ext cx="8505825" cy="4239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28566" l="-57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320" name="Google Shape;320;p33"/>
          <p:cNvSpPr txBox="1"/>
          <p:nvPr/>
        </p:nvSpPr>
        <p:spPr>
          <a:xfrm>
            <a:off x="1847529" y="2924944"/>
            <a:ext cx="8505825" cy="42394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0434" l="-57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pic>
        <p:nvPicPr>
          <p:cNvPr id="321" name="Google Shape;321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15880" y="1202916"/>
            <a:ext cx="449580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모분산을 모르는 경우의 가설검정 (예제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27" name="Google Shape;32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3401" y="5086350"/>
            <a:ext cx="6696075" cy="175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3401" y="1124744"/>
            <a:ext cx="8613079" cy="3771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모분산을 모르는 경우의 가설검정 (예제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34" name="Google Shape;33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1650" y="5013325"/>
            <a:ext cx="7348538" cy="636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1650" y="1124744"/>
            <a:ext cx="8426524" cy="3701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모분산을 모르는 경우의 가설검정 (예제 풀이)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41" name="Google Shape;341;p36"/>
          <p:cNvSpPr txBox="1"/>
          <p:nvPr/>
        </p:nvSpPr>
        <p:spPr>
          <a:xfrm>
            <a:off x="1847529" y="5087902"/>
            <a:ext cx="8505825" cy="10774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pic>
        <p:nvPicPr>
          <p:cNvPr id="342" name="Google Shape;34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7528" y="1196752"/>
            <a:ext cx="8856983" cy="387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330" l="0" r="0" t="-4442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 </a:t>
            </a:r>
            <a:endParaRPr/>
          </a:p>
        </p:txBody>
      </p:sp>
      <p:sp>
        <p:nvSpPr>
          <p:cNvPr id="348" name="Google Shape;348;p37"/>
          <p:cNvSpPr txBox="1"/>
          <p:nvPr/>
        </p:nvSpPr>
        <p:spPr>
          <a:xfrm>
            <a:off x="1847529" y="1196752"/>
            <a:ext cx="8928991" cy="4239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04277" l="-750" r="0" t="-856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330" l="0" r="0" t="-4442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 </a:t>
            </a:r>
            <a:endParaRPr/>
          </a:p>
        </p:txBody>
      </p:sp>
      <p:sp>
        <p:nvSpPr>
          <p:cNvPr id="354" name="Google Shape;354;p38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633" r="-77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 </a:t>
            </a:r>
            <a:endParaRPr/>
          </a:p>
        </p:txBody>
      </p:sp>
      <p:pic>
        <p:nvPicPr>
          <p:cNvPr id="355" name="Google Shape;35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40125" y="2924175"/>
            <a:ext cx="5111750" cy="269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05150" y="5951538"/>
            <a:ext cx="59817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9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330" l="0" r="0" t="-4442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 </a:t>
            </a:r>
            <a:endParaRPr/>
          </a:p>
        </p:txBody>
      </p:sp>
      <p:pic>
        <p:nvPicPr>
          <p:cNvPr id="362" name="Google Shape;36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7201" y="980535"/>
            <a:ext cx="8137598" cy="5688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0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330" l="0" r="0" t="-4442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 </a:t>
            </a:r>
            <a:endParaRPr/>
          </a:p>
        </p:txBody>
      </p:sp>
      <p:pic>
        <p:nvPicPr>
          <p:cNvPr id="368" name="Google Shape;36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1464" y="1473793"/>
            <a:ext cx="9649072" cy="1955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330" l="0" r="0" t="-4442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 </a:t>
            </a:r>
            <a:endParaRPr/>
          </a:p>
        </p:txBody>
      </p:sp>
      <p:pic>
        <p:nvPicPr>
          <p:cNvPr id="374" name="Google Shape;37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5545" y="1342008"/>
            <a:ext cx="51911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70659" y="1853108"/>
            <a:ext cx="38576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59249" y="2410322"/>
            <a:ext cx="4067175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70659" y="3415247"/>
            <a:ext cx="280035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74504" y="5733256"/>
            <a:ext cx="1743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31904" y="3799979"/>
            <a:ext cx="5952138" cy="2689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330" l="0" r="0" t="-4442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 </a:t>
            </a:r>
            <a:endParaRPr/>
          </a:p>
        </p:txBody>
      </p:sp>
      <p:pic>
        <p:nvPicPr>
          <p:cNvPr id="385" name="Google Shape;38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4826" y="4986339"/>
            <a:ext cx="7489825" cy="67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74826" y="1196974"/>
            <a:ext cx="8785670" cy="3561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330" l="0" r="0" t="-4442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 </a:t>
            </a:r>
            <a:endParaRPr/>
          </a:p>
        </p:txBody>
      </p:sp>
      <p:pic>
        <p:nvPicPr>
          <p:cNvPr id="392" name="Google Shape;39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4826" y="5229226"/>
            <a:ext cx="7345363" cy="105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74826" y="1196752"/>
            <a:ext cx="9382042" cy="381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330" l="0" r="0" t="-4442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 </a:t>
            </a:r>
            <a:endParaRPr/>
          </a:p>
        </p:txBody>
      </p:sp>
      <p:pic>
        <p:nvPicPr>
          <p:cNvPr id="399" name="Google Shape;39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4825" y="5124451"/>
            <a:ext cx="8421688" cy="70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70632" y="1124744"/>
            <a:ext cx="9437935" cy="3842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330" l="0" r="0" t="-4442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 </a:t>
            </a:r>
            <a:endParaRPr/>
          </a:p>
        </p:txBody>
      </p:sp>
      <p:pic>
        <p:nvPicPr>
          <p:cNvPr id="406" name="Google Shape;40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0063" y="5300663"/>
            <a:ext cx="5549900" cy="366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70063" y="1160140"/>
            <a:ext cx="9456056" cy="3853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"/>
          <p:cNvSpPr/>
          <p:nvPr/>
        </p:nvSpPr>
        <p:spPr>
          <a:xfrm>
            <a:off x="2279651" y="1420070"/>
            <a:ext cx="7967663" cy="712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모집단 비율 및 분산의 가설검정</a:t>
            </a:r>
            <a:endParaRPr b="1" sz="4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3" name="Google Shape;413;p46"/>
          <p:cNvSpPr txBox="1"/>
          <p:nvPr/>
        </p:nvSpPr>
        <p:spPr>
          <a:xfrm>
            <a:off x="3216276" y="2349501"/>
            <a:ext cx="6911975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FF66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:: Keywords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모집단 비율의 가설검정</a:t>
            </a:r>
            <a:b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</a:t>
            </a:r>
            <a:r>
              <a:rPr b="1"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모집단 분산의 가설검정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비율의 가설검정</a:t>
            </a:r>
            <a:endParaRPr/>
          </a:p>
        </p:txBody>
      </p:sp>
      <p:sp>
        <p:nvSpPr>
          <p:cNvPr id="419" name="Google Shape;419;p47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ko-KR" sz="2000">
                <a:solidFill>
                  <a:schemeClr val="dk1"/>
                </a:solidFill>
              </a:rPr>
              <a:t>모집단 비율에 대한 가설검정</a:t>
            </a:r>
            <a:br>
              <a:rPr b="0" lang="ko-KR" sz="2000">
                <a:solidFill>
                  <a:schemeClr val="dk1"/>
                </a:solidFill>
              </a:rPr>
            </a:br>
            <a:r>
              <a:rPr b="0" lang="ko-KR" sz="2000">
                <a:solidFill>
                  <a:schemeClr val="dk1"/>
                </a:solidFill>
              </a:rPr>
              <a:t>모집단에 대한 특성을 비율로 가늠하여 검정하는 것</a:t>
            </a:r>
            <a:endParaRPr b="0" sz="2000">
              <a:solidFill>
                <a:schemeClr val="dk1"/>
              </a:solidFill>
            </a:endParaRPr>
          </a:p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🡪"/>
            </a:pPr>
            <a:r>
              <a:rPr b="0" lang="ko-KR" sz="2000">
                <a:solidFill>
                  <a:schemeClr val="dk1"/>
                </a:solidFill>
              </a:rPr>
              <a:t>조사 목적에서 목표로 하는 비율을 기준으로 제시하고, 조사 결과를 기준으로 제시한 비율과 비교하여 높거나 혹은 낮으면 채택 또는 기각</a:t>
            </a:r>
            <a:endParaRPr b="0" sz="2000">
              <a:solidFill>
                <a:schemeClr val="dk1"/>
              </a:solidFill>
            </a:endParaRPr>
          </a:p>
          <a:p>
            <a:pPr indent="-139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 b="0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0" lang="ko-KR" sz="2000">
                <a:solidFill>
                  <a:schemeClr val="dk1"/>
                </a:solidFill>
              </a:rPr>
              <a:t>   ex. 4번 타자가 되기 위해서는 3할(30%)을 넘어야 한다.</a:t>
            </a:r>
            <a:br>
              <a:rPr b="0" lang="ko-KR" sz="2000">
                <a:solidFill>
                  <a:schemeClr val="dk1"/>
                </a:solidFill>
              </a:rPr>
            </a:br>
            <a:r>
              <a:rPr b="0" lang="ko-KR" sz="2000">
                <a:solidFill>
                  <a:schemeClr val="dk1"/>
                </a:solidFill>
              </a:rPr>
              <a:t>       혹은 3할 3푼(33%)을 넘어야 한다는 등의 기준을 제시</a:t>
            </a:r>
            <a:endParaRPr b="0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비율의 가설검정</a:t>
            </a:r>
            <a:endParaRPr/>
          </a:p>
        </p:txBody>
      </p:sp>
      <p:sp>
        <p:nvSpPr>
          <p:cNvPr id="425" name="Google Shape;425;p48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ko-KR" sz="2000">
                <a:solidFill>
                  <a:schemeClr val="dk1"/>
                </a:solidFill>
              </a:rPr>
              <a:t>모집단 비율에 대한 가설검정</a:t>
            </a:r>
            <a:br>
              <a:rPr b="0" lang="ko-KR" sz="2000">
                <a:solidFill>
                  <a:schemeClr val="dk1"/>
                </a:solidFill>
              </a:rPr>
            </a:br>
            <a:r>
              <a:rPr b="0" lang="ko-KR" sz="2000">
                <a:solidFill>
                  <a:schemeClr val="dk1"/>
                </a:solidFill>
              </a:rPr>
              <a:t>ex. 전자제품의 AS 센터에서 100명의 고객이 서비스를 받았다고 할 때,</a:t>
            </a:r>
            <a:br>
              <a:rPr b="0" lang="ko-KR" sz="2000">
                <a:solidFill>
                  <a:schemeClr val="dk1"/>
                </a:solidFill>
              </a:rPr>
            </a:br>
            <a:r>
              <a:rPr b="0" lang="ko-KR" sz="2000">
                <a:solidFill>
                  <a:schemeClr val="dk1"/>
                </a:solidFill>
              </a:rPr>
              <a:t>        과연 몇 %의 고객이 만족감을 느꼈을지 확인하는 조사</a:t>
            </a:r>
            <a:endParaRPr b="0" sz="2000">
              <a:solidFill>
                <a:schemeClr val="dk1"/>
              </a:solidFill>
            </a:endParaRPr>
          </a:p>
        </p:txBody>
      </p:sp>
      <p:pic>
        <p:nvPicPr>
          <p:cNvPr id="426" name="Google Shape;42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3632" y="2560692"/>
            <a:ext cx="6192688" cy="4249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9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비율의 가설검정</a:t>
            </a:r>
            <a:endParaRPr/>
          </a:p>
        </p:txBody>
      </p:sp>
      <p:pic>
        <p:nvPicPr>
          <p:cNvPr id="432" name="Google Shape;43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6" y="1412776"/>
            <a:ext cx="8857678" cy="2622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0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비율의 가설검정 (예제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438" name="Google Shape;438;p50"/>
          <p:cNvPicPr preferRelativeResize="0"/>
          <p:nvPr/>
        </p:nvPicPr>
        <p:blipFill rotWithShape="1">
          <a:blip r:embed="rId3">
            <a:alphaModFix/>
          </a:blip>
          <a:srcRect b="49669" l="0" r="0" t="0"/>
          <a:stretch/>
        </p:blipFill>
        <p:spPr>
          <a:xfrm>
            <a:off x="1774825" y="1252538"/>
            <a:ext cx="8642350" cy="1600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5640" y="3101851"/>
            <a:ext cx="3600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5640" y="3678411"/>
            <a:ext cx="4505325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0096" y="4210640"/>
            <a:ext cx="5098252" cy="2437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비율의 가설검정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447" name="Google Shape;44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6" y="1124744"/>
            <a:ext cx="9484279" cy="3384376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1"/>
          <p:cNvSpPr txBox="1"/>
          <p:nvPr/>
        </p:nvSpPr>
        <p:spPr>
          <a:xfrm>
            <a:off x="1774826" y="4941168"/>
            <a:ext cx="9484279" cy="144016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64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비율의 가설검정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454" name="Google Shape;45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5" y="5157788"/>
            <a:ext cx="7200900" cy="931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4825" y="1196752"/>
            <a:ext cx="9692332" cy="36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비율의 가설검정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461" name="Google Shape;46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1651" y="5349875"/>
            <a:ext cx="5332413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1650" y="1206375"/>
            <a:ext cx="9580933" cy="357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비율의 가설검정 (예제 Excel 풀이_완료)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468" name="Google Shape;46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552" y="1340767"/>
            <a:ext cx="8856984" cy="355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분산의 가설검정</a:t>
            </a:r>
            <a:endParaRPr/>
          </a:p>
        </p:txBody>
      </p:sp>
      <p:sp>
        <p:nvSpPr>
          <p:cNvPr id="474" name="Google Shape;474;p55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ko-KR" sz="2000">
                <a:solidFill>
                  <a:schemeClr val="dk1"/>
                </a:solidFill>
              </a:rPr>
              <a:t>모집단 분산에 대한 가설검정</a:t>
            </a:r>
            <a:br>
              <a:rPr b="0" lang="ko-KR" sz="2000">
                <a:solidFill>
                  <a:schemeClr val="dk1"/>
                </a:solidFill>
              </a:rPr>
            </a:br>
            <a:r>
              <a:rPr b="0" lang="ko-KR" sz="2000">
                <a:solidFill>
                  <a:schemeClr val="dk1"/>
                </a:solidFill>
              </a:rPr>
              <a:t>평균에 대해 어느 정도의 산포가 나타나는지를 살펴보는 가설검정</a:t>
            </a:r>
            <a:endParaRPr b="0" sz="2000">
              <a:solidFill>
                <a:schemeClr val="dk1"/>
              </a:solidFill>
            </a:endParaRPr>
          </a:p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🡪"/>
            </a:pPr>
            <a:r>
              <a:rPr b="0" lang="ko-KR" sz="2000">
                <a:solidFill>
                  <a:schemeClr val="dk1"/>
                </a:solidFill>
              </a:rPr>
              <a:t>분산에 대한 가설검정도 모집단 평균의 가설검정과 함께 많이 사용</a:t>
            </a:r>
            <a:endParaRPr b="0" sz="2000">
              <a:solidFill>
                <a:schemeClr val="dk1"/>
              </a:solidFill>
            </a:endParaRPr>
          </a:p>
        </p:txBody>
      </p:sp>
      <p:pic>
        <p:nvPicPr>
          <p:cNvPr id="475" name="Google Shape;475;p55"/>
          <p:cNvPicPr preferRelativeResize="0"/>
          <p:nvPr/>
        </p:nvPicPr>
        <p:blipFill rotWithShape="1">
          <a:blip r:embed="rId3">
            <a:alphaModFix/>
          </a:blip>
          <a:srcRect b="26345" l="0" r="0" t="0"/>
          <a:stretch/>
        </p:blipFill>
        <p:spPr>
          <a:xfrm>
            <a:off x="2208213" y="2973389"/>
            <a:ext cx="7632700" cy="2471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9857" y="4999784"/>
            <a:ext cx="3672408" cy="1194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분산의 가설검정</a:t>
            </a:r>
            <a:endParaRPr/>
          </a:p>
        </p:txBody>
      </p:sp>
      <p:sp>
        <p:nvSpPr>
          <p:cNvPr id="482" name="Google Shape;482;p56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ko-KR" sz="2000">
                <a:solidFill>
                  <a:schemeClr val="dk1"/>
                </a:solidFill>
              </a:rPr>
              <a:t>모집단 분산에 대한 가설검정</a:t>
            </a:r>
            <a:br>
              <a:rPr b="0" lang="ko-KR" sz="2000">
                <a:solidFill>
                  <a:schemeClr val="dk1"/>
                </a:solidFill>
              </a:rPr>
            </a:br>
            <a:endParaRPr b="0" sz="2000">
              <a:solidFill>
                <a:schemeClr val="dk1"/>
              </a:solidFill>
            </a:endParaRPr>
          </a:p>
        </p:txBody>
      </p:sp>
      <p:pic>
        <p:nvPicPr>
          <p:cNvPr id="483" name="Google Shape;483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5" y="1772816"/>
            <a:ext cx="5916612" cy="254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7692" y="3545116"/>
            <a:ext cx="4434308" cy="3140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분산의 가설검정</a:t>
            </a:r>
            <a:endParaRPr/>
          </a:p>
        </p:txBody>
      </p:sp>
      <p:pic>
        <p:nvPicPr>
          <p:cNvPr id="490" name="Google Shape;49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5480" y="1628800"/>
            <a:ext cx="9145016" cy="27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분산의 가설검정 (예제 풀이)</a:t>
            </a:r>
            <a:endParaRPr>
              <a:solidFill>
                <a:srgbClr val="C00000"/>
              </a:solidFill>
            </a:endParaRPr>
          </a:p>
        </p:txBody>
      </p:sp>
      <p:grpSp>
        <p:nvGrpSpPr>
          <p:cNvPr id="496" name="Google Shape;496;p58"/>
          <p:cNvGrpSpPr/>
          <p:nvPr/>
        </p:nvGrpSpPr>
        <p:grpSpPr>
          <a:xfrm>
            <a:off x="2279650" y="1412875"/>
            <a:ext cx="7348538" cy="3346450"/>
            <a:chOff x="2279650" y="1412875"/>
            <a:chExt cx="7348538" cy="3346450"/>
          </a:xfrm>
        </p:grpSpPr>
        <p:pic>
          <p:nvPicPr>
            <p:cNvPr id="497" name="Google Shape;497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79650" y="1412875"/>
              <a:ext cx="7348538" cy="3346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55640" y="2348880"/>
              <a:ext cx="4176464" cy="3383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9" name="Google Shape;499;p5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57832" y="3196293"/>
              <a:ext cx="4613598" cy="66475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9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분산의 가설검정 (예제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505" name="Google Shape;50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5188" y="1412876"/>
            <a:ext cx="648970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7714" y="2708275"/>
            <a:ext cx="4968875" cy="365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0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분산의 가설검정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512" name="Google Shape;51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5" y="5133976"/>
            <a:ext cx="6337300" cy="665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4825" y="1124744"/>
            <a:ext cx="8489578" cy="3795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분산의 가설검정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519" name="Google Shape;51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5" y="5157789"/>
            <a:ext cx="6769100" cy="129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8499" y="1124744"/>
            <a:ext cx="8359949" cy="3867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분산의 가설검정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526" name="Google Shape;52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5" y="5281613"/>
            <a:ext cx="8497888" cy="67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4825" y="1124744"/>
            <a:ext cx="8562786" cy="396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분산의 가설검정 (예제 Excel 풀이)</a:t>
            </a:r>
            <a:endParaRPr>
              <a:solidFill>
                <a:srgbClr val="C00000"/>
              </a:solidFill>
            </a:endParaRPr>
          </a:p>
        </p:txBody>
      </p:sp>
      <p:grpSp>
        <p:nvGrpSpPr>
          <p:cNvPr id="533" name="Google Shape;533;p63"/>
          <p:cNvGrpSpPr/>
          <p:nvPr/>
        </p:nvGrpSpPr>
        <p:grpSpPr>
          <a:xfrm>
            <a:off x="1771650" y="5081589"/>
            <a:ext cx="7277100" cy="1341437"/>
            <a:chOff x="247800" y="5080870"/>
            <a:chExt cx="7276528" cy="1341924"/>
          </a:xfrm>
        </p:grpSpPr>
        <p:pic>
          <p:nvPicPr>
            <p:cNvPr id="534" name="Google Shape;534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7800" y="5080870"/>
              <a:ext cx="7276528" cy="1341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5" name="Google Shape;535;p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20072" y="5466082"/>
              <a:ext cx="648072" cy="285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36" name="Google Shape;536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71650" y="1145625"/>
            <a:ext cx="8140774" cy="3862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분산의 가설검정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542" name="Google Shape;54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5" y="5281613"/>
            <a:ext cx="8497888" cy="67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4825" y="1124744"/>
            <a:ext cx="8353623" cy="3947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모집단 분산의 가설검정 (예제 Excel 풀이_완료)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549" name="Google Shape;54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0063" y="5280026"/>
            <a:ext cx="5765800" cy="823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0063" y="1124744"/>
            <a:ext cx="8574409" cy="4051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2012-07-11T10:23:22Z</dcterms:created>
  <dc:creator>daaep@naver.com</dc:creator>
</cp:coreProperties>
</file>