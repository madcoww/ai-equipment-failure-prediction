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65" r:id="rId2"/>
    <p:sldId id="256" r:id="rId3"/>
    <p:sldId id="425" r:id="rId4"/>
    <p:sldId id="424" r:id="rId5"/>
    <p:sldId id="363" r:id="rId6"/>
    <p:sldId id="426" r:id="rId7"/>
    <p:sldId id="455" r:id="rId8"/>
    <p:sldId id="427" r:id="rId9"/>
    <p:sldId id="428" r:id="rId10"/>
    <p:sldId id="429" r:id="rId11"/>
    <p:sldId id="431" r:id="rId12"/>
    <p:sldId id="430" r:id="rId13"/>
    <p:sldId id="432" r:id="rId14"/>
    <p:sldId id="433" r:id="rId15"/>
    <p:sldId id="434" r:id="rId16"/>
    <p:sldId id="435" r:id="rId17"/>
    <p:sldId id="436" r:id="rId18"/>
    <p:sldId id="437" r:id="rId19"/>
    <p:sldId id="439" r:id="rId20"/>
    <p:sldId id="438" r:id="rId21"/>
    <p:sldId id="456" r:id="rId22"/>
    <p:sldId id="454" r:id="rId23"/>
    <p:sldId id="440" r:id="rId24"/>
    <p:sldId id="441" r:id="rId25"/>
    <p:sldId id="442" r:id="rId26"/>
    <p:sldId id="443" r:id="rId27"/>
    <p:sldId id="444" r:id="rId28"/>
    <p:sldId id="445" r:id="rId29"/>
    <p:sldId id="446" r:id="rId30"/>
    <p:sldId id="447" r:id="rId31"/>
    <p:sldId id="448" r:id="rId32"/>
    <p:sldId id="449" r:id="rId33"/>
    <p:sldId id="450" r:id="rId34"/>
    <p:sldId id="451" r:id="rId35"/>
    <p:sldId id="452" r:id="rId36"/>
    <p:sldId id="453" r:id="rId37"/>
    <p:sldId id="362" r:id="rId38"/>
  </p:sldIdLst>
  <p:sldSz cx="12192000" cy="6858000"/>
  <p:notesSz cx="6858000" cy="9144000"/>
  <p:embeddedFontLst>
    <p:embeddedFont>
      <p:font typeface="맑은 고딕" panose="020B0503020000020004" pitchFamily="50" charset="-127"/>
      <p:regular r:id="rId41"/>
      <p:bold r:id="rId42"/>
    </p:embeddedFont>
    <p:embeddedFont>
      <p:font typeface="Cambria Math" panose="02040503050406030204" pitchFamily="18" charset="0"/>
      <p:regular r:id="rId4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 userDrawn="1">
          <p15:clr>
            <a:srgbClr val="A4A3A4"/>
          </p15:clr>
        </p15:guide>
        <p15:guide id="2" pos="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C35D09"/>
    <a:srgbClr val="FFCC66"/>
    <a:srgbClr val="006699"/>
    <a:srgbClr val="008080"/>
    <a:srgbClr val="009E9A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35" autoAdjust="0"/>
    <p:restoredTop sz="94160" autoAdjust="0"/>
  </p:normalViewPr>
  <p:slideViewPr>
    <p:cSldViewPr>
      <p:cViewPr varScale="1">
        <p:scale>
          <a:sx n="68" d="100"/>
          <a:sy n="68" d="100"/>
        </p:scale>
        <p:origin x="54" y="1668"/>
      </p:cViewPr>
      <p:guideLst>
        <p:guide orient="horz" pos="119"/>
        <p:guide pos="2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D8C6A30E-E36A-4365-9DFD-FAE04A453B83}" type="datetimeFigureOut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2024-10-24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37D3C5DB-C643-4F38-9DEA-2CE505560845}" type="slidenum">
              <a:rPr lang="ko-KR" altLang="en-US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04409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EAEFF6A8-00C0-4EE8-BDCB-C5C5CA3A8524}" type="datetimeFigureOut">
              <a:rPr lang="ko-KR" altLang="en-US" smtClean="0"/>
              <a:pPr>
                <a:defRPr/>
              </a:pPr>
              <a:t>2024-10-24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ea typeface="맑은 고딕" panose="020B0503020000020004" pitchFamily="50" charset="-127"/>
              </a:defRPr>
            </a:lvl1pPr>
          </a:lstStyle>
          <a:p>
            <a:fld id="{9DD3ABF5-9710-4E94-98D9-18CEFAA2B2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3402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833967" y="981075"/>
            <a:ext cx="9582151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제대로 시작하는 기초 </a:t>
            </a:r>
            <a:r>
              <a:rPr kumimoji="0" lang="ko-KR" altLang="en-US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통계학 </a:t>
            </a:r>
            <a:r>
              <a:rPr kumimoji="0" lang="en-US" altLang="ko-KR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kumimoji="0" lang="ko-KR" altLang="en-US" sz="18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판 </a:t>
            </a:r>
            <a:r>
              <a:rPr kumimoji="0"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Excel </a:t>
            </a:r>
            <a:r>
              <a:rPr kumimoji="0"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endParaRPr kumimoji="0" lang="de-DE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812801" y="1700213"/>
            <a:ext cx="10655300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rgbClr val="FF0000"/>
              </a:solidFill>
              <a:ea typeface="맑은 고딕" pitchFamily="50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1" dirty="0">
                <a:ea typeface="맑은 고딕" pitchFamily="50" charset="-127"/>
              </a:rPr>
              <a:t>[</a:t>
            </a:r>
            <a:r>
              <a:rPr kumimoji="0" lang="ko-KR" altLang="en-US" sz="1400" b="1" dirty="0">
                <a:ea typeface="맑은 고딕" pitchFamily="50" charset="-127"/>
              </a:rPr>
              <a:t>강의교안 이용 안내</a:t>
            </a:r>
            <a:r>
              <a:rPr kumimoji="0" lang="en-US" altLang="ko-KR" sz="1400" b="1" dirty="0">
                <a:ea typeface="맑은 고딕" pitchFamily="50" charset="-127"/>
              </a:rPr>
              <a:t>]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ea typeface="맑은 고딕" pitchFamily="50" charset="-127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dirty="0">
                <a:ea typeface="맑은 고딕" pitchFamily="50" charset="-127"/>
              </a:rPr>
              <a:t>본 강의교안의 저작권은 </a:t>
            </a:r>
            <a:r>
              <a:rPr kumimoji="0" lang="ko-KR" altLang="en-US" sz="1000" b="1" dirty="0">
                <a:ea typeface="맑은 고딕" pitchFamily="50" charset="-127"/>
              </a:rPr>
              <a:t>노경섭</a:t>
            </a:r>
            <a:r>
              <a:rPr kumimoji="0" lang="ko-KR" altLang="en-US" sz="1000" dirty="0">
                <a:ea typeface="맑은 고딕" pitchFamily="50" charset="-127"/>
              </a:rPr>
              <a:t>과 </a:t>
            </a:r>
            <a:r>
              <a:rPr kumimoji="0" lang="ko-KR" altLang="en-US" sz="1000" b="1" dirty="0" err="1">
                <a:ea typeface="맑은 고딕" pitchFamily="50" charset="-127"/>
              </a:rPr>
              <a:t>한빛아카데미</a:t>
            </a:r>
            <a:r>
              <a:rPr kumimoji="0" lang="ko-KR" altLang="en-US" sz="1000" b="1" dirty="0">
                <a:ea typeface="맑은 고딕" pitchFamily="50" charset="-127"/>
              </a:rPr>
              <a:t>㈜</a:t>
            </a:r>
            <a:r>
              <a:rPr kumimoji="0" lang="ko-KR" altLang="en-US" sz="1000" dirty="0">
                <a:ea typeface="맑은 고딕" pitchFamily="50" charset="-127"/>
              </a:rPr>
              <a:t>에 있습니다</a:t>
            </a:r>
            <a:r>
              <a:rPr kumimoji="0" lang="en-US" altLang="ko-KR" sz="1000" dirty="0">
                <a:ea typeface="맑은 고딕" pitchFamily="50" charset="-127"/>
              </a:rPr>
              <a:t>.</a:t>
            </a:r>
            <a:r>
              <a:rPr kumimoji="0" lang="ko-KR" altLang="en-US" sz="1000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endParaRPr kumimoji="0" lang="en-US" altLang="ko-KR" sz="1000" dirty="0">
              <a:solidFill>
                <a:srgbClr val="222222"/>
              </a:solidFill>
              <a:ea typeface="맑은 고딕" pitchFamily="50" charset="-127"/>
            </a:endParaRPr>
          </a:p>
          <a:p>
            <a:pPr marL="171450" indent="-171450" eaLnBrk="1" fontAlgn="auto" latinLnBrk="1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이 자료를 무단으로 전제하거나 배포할 경우 저작권법 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136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조에 의거하여 벌금에 처할 수 있고 이를 병과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(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倂科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)</a:t>
            </a:r>
            <a:r>
              <a:rPr kumimoji="0" lang="ko-KR" altLang="en-US" sz="1000" u="sng" dirty="0">
                <a:solidFill>
                  <a:srgbClr val="222222"/>
                </a:solidFill>
                <a:ea typeface="맑은 고딕" pitchFamily="50" charset="-127"/>
              </a:rPr>
              <a:t>할 수도 있습니다</a:t>
            </a:r>
            <a:r>
              <a:rPr kumimoji="0" lang="en-US" altLang="ko-KR" sz="1000" u="sng" dirty="0">
                <a:solidFill>
                  <a:srgbClr val="222222"/>
                </a:solidFill>
                <a:ea typeface="맑은 고딕" pitchFamily="50" charset="-127"/>
              </a:rPr>
              <a:t>.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000" dirty="0">
              <a:ea typeface="맑은 고딕" pitchFamily="50" charset="-127"/>
            </a:endParaRPr>
          </a:p>
        </p:txBody>
      </p:sp>
      <p:sp>
        <p:nvSpPr>
          <p:cNvPr id="4" name="모서리가 둥근 직사각형 3"/>
          <p:cNvSpPr/>
          <p:nvPr userDrawn="1"/>
        </p:nvSpPr>
        <p:spPr>
          <a:xfrm>
            <a:off x="425451" y="404814"/>
            <a:ext cx="11330516" cy="6048375"/>
          </a:xfrm>
          <a:prstGeom prst="roundRect">
            <a:avLst>
              <a:gd name="adj" fmla="val 8163"/>
            </a:avLst>
          </a:prstGeom>
          <a:noFill/>
          <a:ln w="539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pic>
        <p:nvPicPr>
          <p:cNvPr id="5" name="Picture 2" descr="C:\Documents and Settings\hanb\바탕 화면\한빛아카데미.bmp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317" y="5927725"/>
            <a:ext cx="2123016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050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2B48B5C7-2B2C-4741-A6A1-2B0B48FF4D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11"/>
          <a:stretch/>
        </p:blipFill>
        <p:spPr>
          <a:xfrm>
            <a:off x="1" y="0"/>
            <a:ext cx="12192000" cy="685733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C27ADD6-8145-416F-B5EF-AEF57A1B6709}"/>
              </a:ext>
            </a:extLst>
          </p:cNvPr>
          <p:cNvSpPr/>
          <p:nvPr userDrawn="1"/>
        </p:nvSpPr>
        <p:spPr>
          <a:xfrm>
            <a:off x="565403" y="5742408"/>
            <a:ext cx="102845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latinLnBrk="1" hangingPunct="1">
              <a:defRPr/>
            </a:pPr>
            <a:r>
              <a:rPr lang="en-US" altLang="ko-KR" sz="2000" b="1" spc="-150" dirty="0">
                <a:solidFill>
                  <a:schemeClr val="accent6">
                    <a:lumMod val="75000"/>
                  </a:schemeClr>
                </a:solidFill>
                <a:ea typeface="맑은 고딕" panose="020B0503020000020004" pitchFamily="50" charset="-127"/>
              </a:rPr>
              <a:t>Chapter</a:t>
            </a:r>
          </a:p>
          <a:p>
            <a:pPr algn="ctr" eaLnBrk="1" latinLnBrk="1" hangingPunct="1">
              <a:defRPr/>
            </a:pPr>
            <a:r>
              <a:rPr lang="en-US" altLang="ko-KR" sz="3200" b="1" spc="-150" dirty="0">
                <a:solidFill>
                  <a:schemeClr val="accent6">
                    <a:lumMod val="75000"/>
                  </a:schemeClr>
                </a:solidFill>
                <a:ea typeface="맑은 고딕" panose="020B0503020000020004" pitchFamily="50" charset="-127"/>
              </a:rPr>
              <a:t>02</a:t>
            </a:r>
            <a:endParaRPr lang="ko-KR" altLang="en-US" sz="3200" b="1" dirty="0">
              <a:solidFill>
                <a:schemeClr val="accent6">
                  <a:lumMod val="75000"/>
                </a:schemeClr>
              </a:solidFill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F58D7E1-5AF7-45B0-96BC-6805FA4D45C8}"/>
              </a:ext>
            </a:extLst>
          </p:cNvPr>
          <p:cNvSpPr/>
          <p:nvPr userDrawn="1"/>
        </p:nvSpPr>
        <p:spPr>
          <a:xfrm>
            <a:off x="1772623" y="5682733"/>
            <a:ext cx="431400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5400" b="1" spc="-300" dirty="0">
                <a:ea typeface="맑은 고딕" panose="020B0503020000020004" pitchFamily="50" charset="-127"/>
              </a:rPr>
              <a:t>모집단과 표본</a:t>
            </a:r>
            <a:endParaRPr lang="en-US" altLang="ko-KR" sz="5400" b="1" spc="-300" dirty="0"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F17BC9-3230-42E7-97F5-AA12F3442E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096000" y="6021288"/>
            <a:ext cx="3439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2400" dirty="0">
                <a:solidFill>
                  <a:srgbClr val="7F7F7F"/>
                </a:solidFill>
                <a:ea typeface="맑은 고딕" panose="020B0503020000020004" pitchFamily="50" charset="-127"/>
              </a:rPr>
              <a:t>Population and Sample</a:t>
            </a:r>
          </a:p>
        </p:txBody>
      </p:sp>
    </p:spTree>
    <p:extLst>
      <p:ext uri="{BB962C8B-B14F-4D97-AF65-F5344CB8AC3E}">
        <p14:creationId xmlns:p14="http://schemas.microsoft.com/office/powerpoint/2010/main" val="1694484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12192000" cy="6210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22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latinLnBrk="1" hangingPunct="1">
              <a:spcBef>
                <a:spcPct val="20000"/>
              </a:spcBef>
              <a:defRPr/>
            </a:pPr>
            <a:endParaRPr lang="ko-KR" altLang="en-US" sz="3200" dirty="0">
              <a:solidFill>
                <a:srgbClr val="481C10"/>
              </a:solidFill>
              <a:ea typeface="맑은 고딕" panose="020B0503020000020004" pitchFamily="50" charset="-127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6974417" y="0"/>
            <a:ext cx="4413887" cy="523220"/>
            <a:chOff x="6685508" y="188640"/>
            <a:chExt cx="3311746" cy="522566"/>
          </a:xfrm>
        </p:grpSpPr>
        <p:sp>
          <p:nvSpPr>
            <p:cNvPr id="4" name="직사각형 3"/>
            <p:cNvSpPr/>
            <p:nvPr/>
          </p:nvSpPr>
          <p:spPr>
            <a:xfrm>
              <a:off x="8248236" y="188640"/>
              <a:ext cx="1749018" cy="5225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latinLnBrk="1" hangingPunct="1">
                <a:defRPr/>
              </a:pPr>
              <a:r>
                <a:rPr lang="ko-KR" altLang="en-US" sz="2800" b="1" spc="-150" dirty="0">
                  <a:solidFill>
                    <a:schemeClr val="accent6">
                      <a:lumMod val="75000"/>
                    </a:schemeClr>
                  </a:solidFill>
                  <a:ea typeface="맑은 고딕" panose="020B0503020000020004" pitchFamily="50" charset="-127"/>
                </a:rPr>
                <a:t>모집단과 표본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685508" y="188640"/>
              <a:ext cx="1236989" cy="522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2000" b="1" dirty="0">
                  <a:solidFill>
                    <a:srgbClr val="984807"/>
                  </a:solidFill>
                  <a:ea typeface="맑은 고딕" panose="020B0503020000020004" pitchFamily="50" charset="-127"/>
                </a:rPr>
                <a:t>Chapter </a:t>
              </a:r>
              <a:r>
                <a:rPr lang="en-US" altLang="ko-KR" sz="2800" b="1" dirty="0">
                  <a:solidFill>
                    <a:srgbClr val="984807"/>
                  </a:solidFill>
                  <a:ea typeface="맑은 고딕" panose="020B0503020000020004" pitchFamily="50" charset="-127"/>
                </a:rPr>
                <a:t>02</a:t>
              </a:r>
              <a:endParaRPr lang="ko-KR" altLang="en-US" sz="2800" b="1" dirty="0">
                <a:solidFill>
                  <a:srgbClr val="984807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12192000" cy="107950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 panose="020B0503020000020004" pitchFamily="50" charset="-127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7361767" y="5372100"/>
            <a:ext cx="4415367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052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t1_본문(이론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1" y="908050"/>
            <a:ext cx="3119967" cy="0"/>
          </a:xfrm>
          <a:prstGeom prst="line">
            <a:avLst/>
          </a:prstGeom>
          <a:ln w="76200">
            <a:solidFill>
              <a:srgbClr val="FF66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3119967" y="908050"/>
            <a:ext cx="3119967" cy="0"/>
          </a:xfrm>
          <a:prstGeom prst="line">
            <a:avLst/>
          </a:prstGeom>
          <a:ln w="76200">
            <a:solidFill>
              <a:srgbClr val="FF9933">
                <a:alpha val="74902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>
          <a:xfrm>
            <a:off x="5952067" y="908050"/>
            <a:ext cx="3119967" cy="0"/>
          </a:xfrm>
          <a:prstGeom prst="line">
            <a:avLst/>
          </a:prstGeom>
          <a:ln w="76200">
            <a:solidFill>
              <a:srgbClr val="FF9933">
                <a:alpha val="49804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>
          <a:xfrm>
            <a:off x="9072034" y="908050"/>
            <a:ext cx="3119967" cy="0"/>
          </a:xfrm>
          <a:prstGeom prst="line">
            <a:avLst/>
          </a:prstGeom>
          <a:ln w="76200">
            <a:solidFill>
              <a:srgbClr val="FFCC66">
                <a:alpha val="25098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8"/>
          <p:cNvSpPr>
            <a:spLocks noChangeArrowheads="1"/>
          </p:cNvSpPr>
          <p:nvPr userDrawn="1"/>
        </p:nvSpPr>
        <p:spPr bwMode="auto">
          <a:xfrm>
            <a:off x="11039012" y="6605588"/>
            <a:ext cx="1123949" cy="21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1" latinLnBrk="1" hangingPunct="1">
              <a:defRPr/>
            </a:pPr>
            <a:fld id="{2BCE13CD-ECC7-49DC-84A9-E640324F99D6}" type="slidenum">
              <a:rPr lang="ko-KR" altLang="en-US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pPr algn="r" eaLnBrk="1" latinLnBrk="1" hangingPunct="1">
                <a:defRPr/>
              </a:pPr>
              <a:t>‹#›</a:t>
            </a:fld>
            <a:r>
              <a:rPr lang="en-US" altLang="ko-KR" sz="120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t>/35</a:t>
            </a:r>
            <a:endParaRPr lang="en-US" altLang="ko-KR" sz="1200" dirty="0"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4433" y="188913"/>
            <a:ext cx="10081120" cy="548680"/>
          </a:xfrm>
        </p:spPr>
        <p:txBody>
          <a:bodyPr/>
          <a:lstStyle>
            <a:lvl1pPr algn="l">
              <a:defRPr sz="26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334434" y="1052736"/>
            <a:ext cx="11522207" cy="5472608"/>
          </a:xfr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0"/>
              </a:spcBef>
              <a:buClr>
                <a:srgbClr val="FF6600"/>
              </a:buClr>
              <a:buFont typeface="Wingdings" pitchFamily="2" charset="2"/>
              <a:buChar char="n"/>
              <a:defRPr sz="2200" b="1">
                <a:solidFill>
                  <a:schemeClr val="accent6">
                    <a:lumMod val="75000"/>
                  </a:schemeClr>
                </a:solidFill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rgbClr val="FF6600"/>
              </a:buClr>
              <a:buFont typeface="Wingdings" pitchFamily="2" charset="2"/>
              <a:buChar char="§"/>
              <a:defRPr sz="2000" b="1">
                <a:latin typeface="+mn-ea"/>
                <a:ea typeface="+mn-ea"/>
              </a:defRPr>
            </a:lvl2pPr>
            <a:lvl3pPr marL="628650" indent="-180975">
              <a:spcAft>
                <a:spcPts val="300"/>
              </a:spcAft>
              <a:buClr>
                <a:srgbClr val="FF6600"/>
              </a:buClr>
              <a:defRPr sz="1600">
                <a:latin typeface="+mn-ea"/>
                <a:ea typeface="+mn-ea"/>
              </a:defRPr>
            </a:lvl3pPr>
            <a:lvl4pPr marL="809625" indent="-180975">
              <a:spcAft>
                <a:spcPts val="300"/>
              </a:spcAft>
              <a:buClr>
                <a:srgbClr val="FF6600"/>
              </a:buClr>
              <a:buSzPct val="96000"/>
              <a:defRPr sz="1400">
                <a:latin typeface="+mn-ea"/>
                <a:ea typeface="+mn-ea"/>
              </a:defRPr>
            </a:lvl4pPr>
            <a:lvl5pPr marL="990600" indent="-180975">
              <a:buClr>
                <a:srgbClr val="00918E"/>
              </a:buClr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  <p:extLst>
      <p:ext uri="{BB962C8B-B14F-4D97-AF65-F5344CB8AC3E}">
        <p14:creationId xmlns:p14="http://schemas.microsoft.com/office/powerpoint/2010/main" val="32377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47BDCF0-BA9B-4A61-B6C8-53B4DE7306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038D73-F64C-4C34-B53E-E6AE720055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32104" y="1844824"/>
            <a:ext cx="4703233" cy="132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r>
              <a:rPr lang="en-US" altLang="ko-KR" sz="8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Q&amp;A</a:t>
            </a:r>
            <a:endParaRPr lang="ko-KR" altLang="en-US" sz="8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172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40"/>
          <p:cNvSpPr>
            <a:spLocks noChangeArrowheads="1"/>
          </p:cNvSpPr>
          <p:nvPr userDrawn="1"/>
        </p:nvSpPr>
        <p:spPr bwMode="invGray">
          <a:xfrm>
            <a:off x="0" y="-22224"/>
            <a:ext cx="12192000" cy="555625"/>
          </a:xfrm>
          <a:prstGeom prst="rect">
            <a:avLst/>
          </a:prstGeom>
          <a:solidFill>
            <a:srgbClr val="B3E3EE"/>
          </a:solidFill>
          <a:ln>
            <a:noFill/>
          </a:ln>
          <a:extLst>
            <a:ext uri="{91240B29-F687-4F45-9708-019B960494DF}">
              <a14:hiddenLine xmlns:a14="http://schemas.microsoft.com/office/drawing/2010/main" w="222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20000"/>
              </a:spcBef>
              <a:defRPr/>
            </a:pPr>
            <a:endParaRPr lang="ko-KR" altLang="en-US" sz="3200">
              <a:solidFill>
                <a:srgbClr val="481C10"/>
              </a:solidFill>
              <a:ea typeface="맑은 고딕" panose="020B0503020000020004" pitchFamily="50" charset="-127"/>
            </a:endParaRPr>
          </a:p>
        </p:txBody>
      </p:sp>
      <p:sp>
        <p:nvSpPr>
          <p:cNvPr id="17" name="제목 9"/>
          <p:cNvSpPr>
            <a:spLocks noGrp="1"/>
          </p:cNvSpPr>
          <p:nvPr>
            <p:ph type="title"/>
          </p:nvPr>
        </p:nvSpPr>
        <p:spPr>
          <a:xfrm>
            <a:off x="84667" y="35744"/>
            <a:ext cx="10380133" cy="474662"/>
          </a:xfr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0080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999251E-D0B3-491C-9C55-26EA35FC6181}" type="datetime1">
              <a:rPr lang="ko-KR" altLang="en-US"/>
              <a:pPr>
                <a:defRPr/>
              </a:pPr>
              <a:t>2024-10-24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ea typeface="맑은 고딕" pitchFamily="50" charset="-127"/>
              </a:defRPr>
            </a:lvl1pPr>
          </a:lstStyle>
          <a:p>
            <a:fld id="{11FC44E6-C6CF-4B50-9479-607F2480531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234" r:id="rId2"/>
    <p:sldLayoutId id="2147484235" r:id="rId3"/>
    <p:sldLayoutId id="2147484236" r:id="rId4"/>
    <p:sldLayoutId id="2147484237" r:id="rId5"/>
    <p:sldLayoutId id="2147484238" r:id="rId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8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0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그룹 9"/>
          <p:cNvGrpSpPr>
            <a:grpSpLocks/>
          </p:cNvGrpSpPr>
          <p:nvPr/>
        </p:nvGrpSpPr>
        <p:grpSpPr bwMode="auto">
          <a:xfrm>
            <a:off x="2166938" y="3309939"/>
            <a:ext cx="6953250" cy="719137"/>
            <a:chOff x="643260" y="3173386"/>
            <a:chExt cx="6953076" cy="720000"/>
          </a:xfrm>
        </p:grpSpPr>
        <p:sp>
          <p:nvSpPr>
            <p:cNvPr id="42" name="직사각형 32"/>
            <p:cNvSpPr/>
            <p:nvPr/>
          </p:nvSpPr>
          <p:spPr>
            <a:xfrm>
              <a:off x="643260" y="3225836"/>
              <a:ext cx="728644" cy="608743"/>
            </a:xfrm>
            <a:prstGeom prst="snipRoundRect">
              <a:avLst>
                <a:gd name="adj1" fmla="val 29583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sz="3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754595" y="3294665"/>
              <a:ext cx="54053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en-US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03</a:t>
              </a:r>
              <a:endParaRPr lang="en-US" altLang="ko-KR" sz="24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  <p:sp>
          <p:nvSpPr>
            <p:cNvPr id="14" name="직사각형 32"/>
            <p:cNvSpPr/>
            <p:nvPr/>
          </p:nvSpPr>
          <p:spPr>
            <a:xfrm>
              <a:off x="1359204" y="3173386"/>
              <a:ext cx="6237132" cy="720000"/>
            </a:xfrm>
            <a:prstGeom prst="roundRect">
              <a:avLst>
                <a:gd name="adj" fmla="val 2291"/>
              </a:avLst>
            </a:prstGeom>
            <a:solidFill>
              <a:schemeClr val="bg1">
                <a:lumMod val="95000"/>
                <a:alpha val="32941"/>
              </a:schemeClr>
            </a:solidFill>
            <a:ln w="38100">
              <a:solidFill>
                <a:srgbClr val="E4E4E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직사각형 23"/>
            <p:cNvSpPr>
              <a:spLocks noChangeArrowheads="1"/>
            </p:cNvSpPr>
            <p:nvPr/>
          </p:nvSpPr>
          <p:spPr bwMode="auto">
            <a:xfrm>
              <a:off x="1496616" y="3318602"/>
              <a:ext cx="4824536" cy="402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latinLnBrk="1" hangingPunct="1">
                <a:lnSpc>
                  <a:spcPct val="110000"/>
                </a:lnSpc>
                <a:spcBef>
                  <a:spcPts val="1800"/>
                </a:spcBef>
                <a:spcAft>
                  <a:spcPts val="300"/>
                </a:spcAft>
                <a:defRPr/>
              </a:pPr>
              <a:r>
                <a:rPr lang="ko-KR" altLang="en-US" sz="2000" b="1" spc="-100" dirty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  <a:shade val="30000"/>
                          <a:satMod val="115000"/>
                        </a:schemeClr>
                      </a:gs>
                      <a:gs pos="50000">
                        <a:schemeClr val="tx1">
                          <a:lumMod val="75000"/>
                          <a:lumOff val="25000"/>
                          <a:shade val="67500"/>
                          <a:satMod val="11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표본분포와 중심극한정리</a:t>
              </a:r>
              <a:endParaRPr lang="en-US" altLang="en-US" sz="2000" b="1" spc="-1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243" name="그룹 11"/>
          <p:cNvGrpSpPr>
            <a:grpSpLocks/>
          </p:cNvGrpSpPr>
          <p:nvPr/>
        </p:nvGrpSpPr>
        <p:grpSpPr bwMode="auto">
          <a:xfrm>
            <a:off x="2166938" y="1057275"/>
            <a:ext cx="6953250" cy="719138"/>
            <a:chOff x="643260" y="980728"/>
            <a:chExt cx="6953076" cy="720000"/>
          </a:xfrm>
        </p:grpSpPr>
        <p:sp>
          <p:nvSpPr>
            <p:cNvPr id="37" name="직사각형 32"/>
            <p:cNvSpPr/>
            <p:nvPr/>
          </p:nvSpPr>
          <p:spPr>
            <a:xfrm>
              <a:off x="643260" y="1033179"/>
              <a:ext cx="728644" cy="608741"/>
            </a:xfrm>
            <a:prstGeom prst="snipRoundRect">
              <a:avLst>
                <a:gd name="adj1" fmla="val 29583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sz="3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</a:endParaRPr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754594" y="1101879"/>
              <a:ext cx="54053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latinLnBrk="1" hangingPunct="1">
                <a:defRPr/>
              </a:pPr>
              <a:r>
                <a:rPr lang="en-US" altLang="en-US" sz="2400" b="1" dirty="0">
                  <a:gradFill flip="none" rotWithShape="1">
                    <a:gsLst>
                      <a:gs pos="0">
                        <a:schemeClr val="tx2">
                          <a:lumMod val="75000"/>
                          <a:shade val="30000"/>
                          <a:satMod val="115000"/>
                        </a:schemeClr>
                      </a:gs>
                      <a:gs pos="50000">
                        <a:schemeClr val="tx2">
                          <a:lumMod val="75000"/>
                          <a:shade val="67500"/>
                          <a:satMod val="115000"/>
                        </a:schemeClr>
                      </a:gs>
                      <a:gs pos="100000">
                        <a:schemeClr val="tx2">
                          <a:lumMod val="7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01</a:t>
              </a:r>
              <a:endParaRPr lang="en-US" altLang="ko-KR" sz="24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32"/>
            <p:cNvSpPr/>
            <p:nvPr/>
          </p:nvSpPr>
          <p:spPr>
            <a:xfrm>
              <a:off x="1359204" y="980728"/>
              <a:ext cx="6237132" cy="720000"/>
            </a:xfrm>
            <a:prstGeom prst="roundRect">
              <a:avLst>
                <a:gd name="adj" fmla="val 2291"/>
              </a:avLst>
            </a:prstGeom>
            <a:solidFill>
              <a:schemeClr val="bg1">
                <a:lumMod val="95000"/>
                <a:alpha val="32941"/>
              </a:schemeClr>
            </a:solidFill>
            <a:ln w="38100">
              <a:solidFill>
                <a:srgbClr val="E4E4E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직사각형 23"/>
            <p:cNvSpPr>
              <a:spLocks noChangeArrowheads="1"/>
            </p:cNvSpPr>
            <p:nvPr/>
          </p:nvSpPr>
          <p:spPr bwMode="auto">
            <a:xfrm>
              <a:off x="1496616" y="1135069"/>
              <a:ext cx="4824536" cy="402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latinLnBrk="1" hangingPunct="1">
                <a:lnSpc>
                  <a:spcPct val="110000"/>
                </a:lnSpc>
                <a:spcBef>
                  <a:spcPts val="1800"/>
                </a:spcBef>
                <a:spcAft>
                  <a:spcPts val="300"/>
                </a:spcAft>
                <a:defRPr/>
              </a:pPr>
              <a:r>
                <a:rPr lang="ko-KR" altLang="en-US" sz="2000" b="1" spc="-100" dirty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  <a:shade val="30000"/>
                          <a:satMod val="115000"/>
                        </a:schemeClr>
                      </a:gs>
                      <a:gs pos="50000">
                        <a:schemeClr val="tx1">
                          <a:lumMod val="75000"/>
                          <a:lumOff val="25000"/>
                          <a:shade val="67500"/>
                          <a:satMod val="11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모집단과 표본추출</a:t>
              </a:r>
              <a:endParaRPr lang="en-US" altLang="en-US" sz="2000" b="1" spc="-1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244" name="그룹 10"/>
          <p:cNvGrpSpPr>
            <a:grpSpLocks/>
          </p:cNvGrpSpPr>
          <p:nvPr/>
        </p:nvGrpSpPr>
        <p:grpSpPr bwMode="auto">
          <a:xfrm>
            <a:off x="2166938" y="2178051"/>
            <a:ext cx="6953250" cy="720725"/>
            <a:chOff x="643260" y="2077057"/>
            <a:chExt cx="6953076" cy="720000"/>
          </a:xfrm>
        </p:grpSpPr>
        <p:sp>
          <p:nvSpPr>
            <p:cNvPr id="39" name="직사각형 32"/>
            <p:cNvSpPr/>
            <p:nvPr/>
          </p:nvSpPr>
          <p:spPr>
            <a:xfrm>
              <a:off x="643260" y="2148423"/>
              <a:ext cx="728644" cy="608987"/>
            </a:xfrm>
            <a:prstGeom prst="snipRoundRect">
              <a:avLst>
                <a:gd name="adj1" fmla="val 29583"/>
                <a:gd name="adj2" fmla="val 0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latinLnBrk="1" hangingPunct="1">
                <a:defRPr/>
              </a:pPr>
              <a:endParaRPr lang="ko-KR" altLang="en-US" sz="3200" b="1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</a:endParaRPr>
            </a:p>
          </p:txBody>
        </p:sp>
        <p:sp>
          <p:nvSpPr>
            <p:cNvPr id="18" name="직사각형 32"/>
            <p:cNvSpPr/>
            <p:nvPr/>
          </p:nvSpPr>
          <p:spPr>
            <a:xfrm>
              <a:off x="1359204" y="2077057"/>
              <a:ext cx="6237132" cy="720000"/>
            </a:xfrm>
            <a:prstGeom prst="roundRect">
              <a:avLst>
                <a:gd name="adj" fmla="val 2291"/>
              </a:avLst>
            </a:prstGeom>
            <a:solidFill>
              <a:schemeClr val="bg1">
                <a:lumMod val="95000"/>
                <a:alpha val="32941"/>
              </a:schemeClr>
            </a:solidFill>
            <a:ln w="38100">
              <a:solidFill>
                <a:srgbClr val="E4E4E4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eaLnBrk="1" latinLnBrk="1" hangingPunct="1">
                <a:defRPr/>
              </a:pPr>
              <a:endParaRPr lang="ko-KR" altLang="en-US" dirty="0"/>
            </a:p>
          </p:txBody>
        </p:sp>
        <p:sp>
          <p:nvSpPr>
            <p:cNvPr id="24" name="직사각형 23"/>
            <p:cNvSpPr>
              <a:spLocks noChangeArrowheads="1"/>
            </p:cNvSpPr>
            <p:nvPr/>
          </p:nvSpPr>
          <p:spPr bwMode="auto">
            <a:xfrm>
              <a:off x="1496616" y="2227029"/>
              <a:ext cx="4824536" cy="401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latinLnBrk="1" hangingPunct="1">
                <a:lnSpc>
                  <a:spcPct val="110000"/>
                </a:lnSpc>
                <a:spcBef>
                  <a:spcPts val="1800"/>
                </a:spcBef>
                <a:spcAft>
                  <a:spcPts val="300"/>
                </a:spcAft>
                <a:defRPr/>
              </a:pPr>
              <a:r>
                <a:rPr lang="ko-KR" altLang="en-US" sz="2000" b="1" spc="-100" dirty="0">
                  <a:gradFill flip="none" rotWithShape="1">
                    <a:gsLst>
                      <a:gs pos="0">
                        <a:schemeClr val="tx1">
                          <a:lumMod val="75000"/>
                          <a:lumOff val="25000"/>
                          <a:shade val="30000"/>
                          <a:satMod val="115000"/>
                        </a:schemeClr>
                      </a:gs>
                      <a:gs pos="50000">
                        <a:schemeClr val="tx1">
                          <a:lumMod val="75000"/>
                          <a:lumOff val="25000"/>
                          <a:shade val="67500"/>
                          <a:satMod val="115000"/>
                        </a:schemeClr>
                      </a:gs>
                      <a:gs pos="100000">
                        <a:schemeClr val="tx1">
                          <a:lumMod val="75000"/>
                          <a:lumOff val="25000"/>
                          <a:shade val="100000"/>
                          <a:satMod val="115000"/>
                        </a:schemeClr>
                      </a:gs>
                    </a:gsLst>
                    <a:lin ang="16200000" scaled="1"/>
                    <a:tileRect/>
                  </a:gradFill>
                  <a:ea typeface="맑은 고딕" panose="020B0503020000020004" pitchFamily="50" charset="-127"/>
                </a:rPr>
                <a:t>표본의 분포</a:t>
              </a:r>
              <a:endParaRPr lang="en-US" altLang="en-US" sz="2000" b="1" spc="-1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endParaRPr>
            </a:p>
          </p:txBody>
        </p:sp>
      </p:grpSp>
      <p:sp>
        <p:nvSpPr>
          <p:cNvPr id="19" name="직사각형 18"/>
          <p:cNvSpPr/>
          <p:nvPr/>
        </p:nvSpPr>
        <p:spPr>
          <a:xfrm>
            <a:off x="2279577" y="2319264"/>
            <a:ext cx="5405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latinLnBrk="1" hangingPunct="1">
              <a:defRPr/>
            </a:pPr>
            <a:r>
              <a:rPr lang="en-US" altLang="en-US" sz="2400" b="1" dirty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a typeface="맑은 고딕" panose="020B0503020000020004" pitchFamily="50" charset="-127"/>
              </a:rPr>
              <a:t>02</a:t>
            </a:r>
            <a:endParaRPr lang="en-US" altLang="ko-KR" sz="2400" b="1" dirty="0">
              <a:gradFill flip="none" rotWithShape="1">
                <a:gsLst>
                  <a:gs pos="0">
                    <a:schemeClr val="tx2">
                      <a:lumMod val="75000"/>
                      <a:shade val="30000"/>
                      <a:satMod val="115000"/>
                    </a:schemeClr>
                  </a:gs>
                  <a:gs pos="50000">
                    <a:schemeClr val="tx2">
                      <a:lumMod val="75000"/>
                      <a:shade val="67500"/>
                      <a:satMod val="115000"/>
                    </a:schemeClr>
                  </a:gs>
                  <a:gs pos="100000">
                    <a:schemeClr val="tx2">
                      <a:lumMod val="75000"/>
                      <a:shade val="100000"/>
                      <a:satMod val="115000"/>
                    </a:schemeClr>
                  </a:gs>
                </a:gsLst>
                <a:lin ang="16200000" scaled="1"/>
                <a:tileRect/>
              </a:gradFill>
              <a:ea typeface="맑은 고딕" panose="020B0503020000020004" pitchFamily="50" charset="-127"/>
            </a:endParaRPr>
          </a:p>
        </p:txBody>
      </p:sp>
      <p:sp>
        <p:nvSpPr>
          <p:cNvPr id="21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목 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79651" y="1444005"/>
            <a:ext cx="6026009" cy="835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4800" b="1" spc="-150" dirty="0">
                <a:ea typeface="맑은 고딕" panose="020B0503020000020004" pitchFamily="50" charset="-127"/>
                <a:cs typeface="+mj-cs"/>
              </a:rPr>
              <a:t>01 </a:t>
            </a:r>
            <a:r>
              <a:rPr lang="ko-KR" altLang="en-US" sz="4800" b="1" spc="-150" dirty="0">
                <a:ea typeface="맑은 고딕" panose="020B0503020000020004" pitchFamily="50" charset="-127"/>
                <a:cs typeface="+mj-cs"/>
              </a:rPr>
              <a:t>모집단과 표본추출</a:t>
            </a:r>
            <a:endParaRPr lang="en-US" altLang="en-US" sz="4800" b="1" spc="-150" dirty="0"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11451" y="2565400"/>
            <a:ext cx="6911975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en-US" altLang="ko-KR" b="1" dirty="0">
                <a:solidFill>
                  <a:srgbClr val="FF6600"/>
                </a:solidFill>
                <a:latin typeface="+mn-ea"/>
                <a:ea typeface="맑은 고딕" panose="020B0503020000020004" pitchFamily="50" charset="-127"/>
              </a:rPr>
              <a:t>:: Keywords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모집단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(</a:t>
            </a:r>
            <a:r>
              <a:rPr lang="ko-KR" altLang="en-US" b="1" dirty="0" err="1">
                <a:latin typeface="+mn-ea"/>
                <a:ea typeface="맑은 고딕" panose="020B0503020000020004" pitchFamily="50" charset="-127"/>
              </a:rPr>
              <a:t>모수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표본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(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통계량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)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 </a:t>
            </a:r>
            <a:r>
              <a:rPr lang="en-US" altLang="ko-KR" b="1" dirty="0">
                <a:latin typeface="+mn-ea"/>
                <a:ea typeface="맑은 고딕" panose="020B0503020000020004" pitchFamily="50" charset="-127"/>
              </a:rPr>
              <a:t>| </a:t>
            </a:r>
            <a:r>
              <a:rPr lang="ko-KR" altLang="en-US" b="1" dirty="0">
                <a:latin typeface="+mn-ea"/>
                <a:ea typeface="맑은 고딕" panose="020B0503020000020004" pitchFamily="50" charset="-127"/>
              </a:rPr>
              <a:t>표본추출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모집단과 표본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모집단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모집단</a:t>
            </a:r>
            <a:r>
              <a:rPr lang="en-US" altLang="ko-KR" sz="1800" b="0" dirty="0">
                <a:solidFill>
                  <a:schemeClr val="tx1"/>
                </a:solidFill>
              </a:rPr>
              <a:t>(population)</a:t>
            </a:r>
            <a:r>
              <a:rPr lang="ko-KR" altLang="en-US" sz="1800" b="0" dirty="0">
                <a:solidFill>
                  <a:schemeClr val="tx1"/>
                </a:solidFill>
              </a:rPr>
              <a:t> </a:t>
            </a:r>
            <a:r>
              <a:rPr lang="en-US" altLang="ko-KR" sz="1800" b="0" dirty="0">
                <a:solidFill>
                  <a:schemeClr val="tx1"/>
                </a:solidFill>
              </a:rPr>
              <a:t>:</a:t>
            </a:r>
            <a:r>
              <a:rPr lang="ko-KR" altLang="en-US" sz="1800" b="0" dirty="0">
                <a:solidFill>
                  <a:schemeClr val="tx1"/>
                </a:solidFill>
              </a:rPr>
              <a:t> 통계분석 방법을 적용할 관심 대상의 전체 집합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</a:rPr>
              <a:t>물리적인 한계로 인해 모집단 전체를 전수조사하기는 쉽지 않다</a:t>
            </a:r>
            <a:r>
              <a:rPr lang="en-US" altLang="ko-KR" sz="1800" b="0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sz="2400" dirty="0"/>
              <a:t>표본</a:t>
            </a:r>
            <a:endParaRPr lang="en-US" altLang="ko-KR" sz="2400" dirty="0"/>
          </a:p>
          <a:p>
            <a:pPr marL="1533525" indent="-1533525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</a:t>
            </a:r>
            <a:r>
              <a:rPr lang="en-US" altLang="ko-KR" sz="1800" b="0" dirty="0">
                <a:solidFill>
                  <a:schemeClr val="tx1"/>
                </a:solidFill>
              </a:rPr>
              <a:t>(sample) :</a:t>
            </a:r>
            <a:r>
              <a:rPr lang="ko-KR" altLang="en-US" sz="1800" b="0" dirty="0">
                <a:solidFill>
                  <a:schemeClr val="tx1"/>
                </a:solidFill>
              </a:rPr>
              <a:t> 과학적인 절차를 적용하여 모집단을 대표할 수 있는 일부를 추출하여 직접적인 조사 대상이 된 모집단의 일부</a:t>
            </a:r>
            <a:endParaRPr lang="ko-KR" altLang="en-US" sz="2400" b="0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262276-026A-4FDE-8C25-4DF8B9E7E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2132856"/>
            <a:ext cx="7632848" cy="9697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모집단과 표본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 err="1"/>
              <a:t>모수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 err="1">
                <a:solidFill>
                  <a:schemeClr val="tx1"/>
                </a:solidFill>
              </a:rPr>
              <a:t>모수</a:t>
            </a:r>
            <a:r>
              <a:rPr lang="en-US" altLang="ko-KR" sz="1800" b="0" dirty="0">
                <a:solidFill>
                  <a:schemeClr val="tx1"/>
                </a:solidFill>
              </a:rPr>
              <a:t>(parameter) :</a:t>
            </a:r>
            <a:r>
              <a:rPr lang="ko-KR" altLang="en-US" sz="1800" b="0" dirty="0">
                <a:solidFill>
                  <a:schemeClr val="tx1"/>
                </a:solidFill>
              </a:rPr>
              <a:t> 모집단을 분석하여 얻어지는 결과 수치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 ex. </a:t>
            </a:r>
            <a:r>
              <a:rPr lang="ko-KR" altLang="en-US" sz="1800" b="0" dirty="0">
                <a:solidFill>
                  <a:schemeClr val="tx1"/>
                </a:solidFill>
              </a:rPr>
              <a:t>모평균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 err="1">
                <a:solidFill>
                  <a:schemeClr val="tx1"/>
                </a:solidFill>
              </a:rPr>
              <a:t>모분산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 err="1">
                <a:solidFill>
                  <a:schemeClr val="tx1"/>
                </a:solidFill>
              </a:rPr>
              <a:t>모표준편차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 err="1">
                <a:solidFill>
                  <a:schemeClr val="tx1"/>
                </a:solidFill>
              </a:rPr>
              <a:t>모비율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dirty="0"/>
              <a:t>통계량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통계량</a:t>
            </a:r>
            <a:r>
              <a:rPr lang="en-US" altLang="ko-KR" sz="1800" b="0" dirty="0">
                <a:solidFill>
                  <a:schemeClr val="tx1"/>
                </a:solidFill>
              </a:rPr>
              <a:t>(statistic) : </a:t>
            </a:r>
            <a:r>
              <a:rPr lang="ko-KR" altLang="en-US" sz="1800" b="0" dirty="0">
                <a:solidFill>
                  <a:schemeClr val="tx1"/>
                </a:solidFill>
              </a:rPr>
              <a:t>표본을 분석하여 얻어지는 결과 수치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 ex. </a:t>
            </a:r>
            <a:r>
              <a:rPr lang="ko-KR" altLang="en-US" sz="1800" b="0" dirty="0">
                <a:solidFill>
                  <a:schemeClr val="tx1"/>
                </a:solidFill>
              </a:rPr>
              <a:t>표본평균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표본분산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표본표준편차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표본비율</a:t>
            </a:r>
            <a:endParaRPr lang="ko-KR" altLang="en-US" sz="2400" b="0" dirty="0">
              <a:solidFill>
                <a:schemeClr val="tx1"/>
              </a:solidFill>
            </a:endParaRPr>
          </a:p>
        </p:txBody>
      </p:sp>
      <p:pic>
        <p:nvPicPr>
          <p:cNvPr id="13316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4310064"/>
            <a:ext cx="638175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모집단과 표본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7B919E-55FE-4226-9DE5-A93EAAD6A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1916832"/>
            <a:ext cx="92773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28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모집단과 표본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20BC9C-764D-48F8-8346-B6B57B3B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809" y="1082756"/>
            <a:ext cx="6207433" cy="153807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BCE0A89-0AEB-4C86-854F-D07E6EF48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809" y="2711141"/>
            <a:ext cx="6207433" cy="40140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1341439"/>
            <a:ext cx="804862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제목 3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표본추출 방법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가장 정확한 조사 방법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</a:rPr>
              <a:t>모집단을 대상으로 조사하는 것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But, </a:t>
            </a:r>
            <a:r>
              <a:rPr lang="ko-KR" altLang="en-US" sz="1800" b="0" dirty="0">
                <a:solidFill>
                  <a:schemeClr val="tx1"/>
                </a:solidFill>
              </a:rPr>
              <a:t>대부분</a:t>
            </a: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표본으로 조사를 진행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ko-KR" altLang="en-US" sz="1800" dirty="0">
                <a:solidFill>
                  <a:schemeClr val="tx1"/>
                </a:solidFill>
              </a:rPr>
              <a:t>  </a:t>
            </a:r>
            <a:r>
              <a:rPr lang="en-US" altLang="ko-KR" sz="1800" dirty="0">
                <a:solidFill>
                  <a:schemeClr val="tx1"/>
                </a:solidFill>
              </a:rPr>
              <a:t>- </a:t>
            </a:r>
            <a:r>
              <a:rPr lang="ko-KR" altLang="en-US" sz="1800" dirty="0">
                <a:solidFill>
                  <a:schemeClr val="tx1"/>
                </a:solidFill>
              </a:rPr>
              <a:t>확률적 표본추출 방법</a:t>
            </a:r>
            <a:r>
              <a:rPr lang="en-US" altLang="ko-KR" sz="1800" dirty="0">
                <a:solidFill>
                  <a:schemeClr val="tx1"/>
                </a:solidFill>
              </a:rPr>
              <a:t>(probability sampling method)</a:t>
            </a:r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    표본추출의 방법은 동일한 확률 하에서 표본을 구성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ko-KR" altLang="en-US" sz="1800" dirty="0">
                <a:solidFill>
                  <a:schemeClr val="tx1"/>
                </a:solidFill>
              </a:rPr>
              <a:t>  </a:t>
            </a:r>
            <a:r>
              <a:rPr lang="en-US" altLang="ko-KR" sz="1800" dirty="0">
                <a:solidFill>
                  <a:schemeClr val="tx1"/>
                </a:solidFill>
              </a:rPr>
              <a:t>- </a:t>
            </a:r>
            <a:r>
              <a:rPr lang="ko-KR" altLang="en-US" sz="1800" dirty="0">
                <a:solidFill>
                  <a:schemeClr val="tx1"/>
                </a:solidFill>
              </a:rPr>
              <a:t>비확률적 표본추출 방법</a:t>
            </a:r>
            <a:r>
              <a:rPr lang="en-US" altLang="ko-KR" sz="1800" dirty="0">
                <a:solidFill>
                  <a:schemeClr val="tx1"/>
                </a:solidFill>
              </a:rPr>
              <a:t>(non-probability sampling method)</a:t>
            </a:r>
          </a:p>
          <a:p>
            <a:pPr marL="342900" indent="-34290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    확률과는 상관없이 조사자가 자신의 의지로 표본을 뽑거나 조사 대상이 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ko-KR" altLang="en-US" sz="1800" b="0" dirty="0">
                <a:solidFill>
                  <a:schemeClr val="tx1"/>
                </a:solidFill>
              </a:rPr>
              <a:t>자발적으로 표본을</a:t>
            </a: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확률적 표본추출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단순 무작위 표본추출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모집단에서 일정한 규칙에 따라 표본을 기계적으로 추출하는 방법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     ex. </a:t>
            </a:r>
            <a:r>
              <a:rPr lang="ko-KR" altLang="en-US" sz="1800" b="0" dirty="0">
                <a:solidFill>
                  <a:schemeClr val="tx1"/>
                </a:solidFill>
              </a:rPr>
              <a:t>컴퓨터로 추출하거나 난수표를 활용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ko-KR" altLang="en-US" dirty="0"/>
              <a:t>체계적 표본추출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모집단에 번호를 부여하고 일정한 </a:t>
            </a:r>
            <a:r>
              <a:rPr lang="en-US" altLang="ko-KR" sz="1800" b="0" dirty="0">
                <a:solidFill>
                  <a:schemeClr val="tx1"/>
                </a:solidFill>
              </a:rPr>
              <a:t>n</a:t>
            </a:r>
            <a:r>
              <a:rPr lang="ko-KR" altLang="en-US" sz="1800" b="0" dirty="0">
                <a:solidFill>
                  <a:schemeClr val="tx1"/>
                </a:solidFill>
              </a:rPr>
              <a:t>개의 간격으로 표본을 추출하는 방법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49668A-9186-4204-AED2-AC0D5082F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556" y="4221088"/>
            <a:ext cx="930592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확률적 표본추출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713788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비례 </a:t>
            </a:r>
            <a:r>
              <a:rPr lang="ko-KR" altLang="en-US" dirty="0" err="1"/>
              <a:t>층화</a:t>
            </a:r>
            <a:r>
              <a:rPr lang="ko-KR" altLang="en-US" dirty="0"/>
              <a:t> 표본추출</a:t>
            </a:r>
            <a:endParaRPr lang="en-US" altLang="ko-KR" dirty="0"/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모집단을 여러 개의 이질적 집단으로 구분한 후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각 집단의 구성 개수에 비례하도록 추출하는 방법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latinLnBrk="0">
              <a:defRPr/>
            </a:pPr>
            <a:r>
              <a:rPr lang="ko-KR" altLang="en-US" dirty="0"/>
              <a:t>다단계 </a:t>
            </a:r>
            <a:r>
              <a:rPr lang="ko-KR" altLang="en-US" dirty="0" err="1"/>
              <a:t>층화</a:t>
            </a:r>
            <a:r>
              <a:rPr lang="ko-KR" altLang="en-US" dirty="0"/>
              <a:t> 표본추출</a:t>
            </a:r>
            <a:endParaRPr lang="en-US" altLang="ko-KR" dirty="0"/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비례 </a:t>
            </a:r>
            <a:r>
              <a:rPr lang="ko-KR" altLang="en-US" sz="1800" b="0" dirty="0" err="1">
                <a:solidFill>
                  <a:schemeClr val="tx1"/>
                </a:solidFill>
              </a:rPr>
              <a:t>층화</a:t>
            </a:r>
            <a:r>
              <a:rPr lang="ko-KR" altLang="en-US" sz="1800" b="0" dirty="0">
                <a:solidFill>
                  <a:schemeClr val="tx1"/>
                </a:solidFill>
              </a:rPr>
              <a:t> 표본추출에서 상</a:t>
            </a:r>
            <a:r>
              <a:rPr lang="en-US" altLang="ko-KR" sz="1800" b="0" dirty="0">
                <a:solidFill>
                  <a:schemeClr val="tx1"/>
                </a:solidFill>
              </a:rPr>
              <a:t>-</a:t>
            </a:r>
            <a:r>
              <a:rPr lang="ko-KR" altLang="en-US" sz="1800" b="0" dirty="0">
                <a:solidFill>
                  <a:schemeClr val="tx1"/>
                </a:solidFill>
              </a:rPr>
              <a:t>하위 표본 단위를 미리 설정하고 그에 맞추어 다시 추출하는 방법</a:t>
            </a:r>
          </a:p>
        </p:txBody>
      </p:sp>
      <p:pic>
        <p:nvPicPr>
          <p:cNvPr id="18437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638" y="5435601"/>
            <a:ext cx="7199312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4D281D3-E90E-4A06-8304-44DD1D9DE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638" y="2564904"/>
            <a:ext cx="7199312" cy="12344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확률적 표본추출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군집 표본추출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모집단의 구성이 내부 이질적이면서 외부 동질적으로 구성되어 있다면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모집단 전체를 조사하지 않고 몇 개의 군집을 표본으로 선택해서 조사하는 방법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</a:endParaRPr>
          </a:p>
        </p:txBody>
      </p:sp>
      <p:pic>
        <p:nvPicPr>
          <p:cNvPr id="19460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2565401"/>
            <a:ext cx="71993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비확률적 표본추출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latinLnBrk="0">
              <a:defRPr/>
            </a:pPr>
            <a:r>
              <a:rPr lang="ko-KR" altLang="en-US" dirty="0"/>
              <a:t>편의 표본추출</a:t>
            </a:r>
            <a:endParaRPr lang="en-US" altLang="ko-KR" dirty="0"/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조사자의 편의에 따라 시간이나 장소에 구애 받지 않고 임의적으로 표본을 추출하는 방법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0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조사하기 쉽고 비용이 적게 드는 장점에 비해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</a:t>
            </a: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모집단에 대한 대표성을 나타내기 힘들며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실수나 오류가 가장 많이 발생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atinLnBrk="0">
              <a:defRPr/>
            </a:pPr>
            <a:r>
              <a:rPr lang="ko-KR" altLang="en-US" dirty="0"/>
              <a:t>판단 표본추출</a:t>
            </a:r>
            <a:endParaRPr lang="en-US" altLang="ko-KR" dirty="0"/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조사자가 적합하다고 판단한 구성원들을 표본으로 선택하는 방법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05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편의 표본추출과 다른 점은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표본으로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선택할지의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여부를 조사자가 판단</a:t>
            </a:r>
            <a:endParaRPr lang="en-US" altLang="ko-KR" sz="1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비확률적 표본추출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latinLnBrk="0">
              <a:defRPr/>
            </a:pPr>
            <a:r>
              <a:rPr lang="ko-KR" altLang="en-US" dirty="0"/>
              <a:t>할당 표본추출</a:t>
            </a:r>
            <a:endParaRPr lang="en-US" altLang="ko-KR" dirty="0"/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모집단의 속성을 대표할 만한 연령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학력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직업 등의 구분을 결정하고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각각에 대한 표본의 개수를 미리 결정한다</a:t>
            </a:r>
            <a:r>
              <a:rPr lang="en-US" altLang="ko-KR" sz="1800" b="0" dirty="0">
                <a:solidFill>
                  <a:schemeClr val="tx1"/>
                </a:solidFill>
              </a:rPr>
              <a:t>. </a:t>
            </a:r>
            <a:r>
              <a:rPr lang="ko-KR" altLang="en-US" sz="1800" b="0" dirty="0">
                <a:solidFill>
                  <a:schemeClr val="tx1"/>
                </a:solidFill>
              </a:rPr>
              <a:t>이후 조사자가 결정한 표본의 개수에 따라 임의적으로 표본을 추출하는 방법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latinLnBrk="0">
              <a:defRPr/>
            </a:pPr>
            <a:r>
              <a:rPr lang="ko-KR" altLang="en-US" dirty="0"/>
              <a:t>자발적 표본추출</a:t>
            </a:r>
            <a:endParaRPr lang="en-US" altLang="ko-KR" dirty="0"/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조사자의 의지와는 별개로 응답자가 원하여 조사에 응하는 경우를 표본으로 선택하는 방법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0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관여도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관심도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가 높은 사람들이 주로 조사에 응하게 될 것이므로 결과의 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왜곡이 발생할 가능성이 크다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endParaRPr lang="en-US" altLang="ko-KR" sz="18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79651" y="1444005"/>
            <a:ext cx="4237057" cy="835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4800" b="1" spc="-150" dirty="0">
                <a:ea typeface="맑은 고딕" panose="020B0503020000020004" pitchFamily="50" charset="-127"/>
                <a:cs typeface="+mj-cs"/>
              </a:rPr>
              <a:t>02 </a:t>
            </a:r>
            <a:r>
              <a:rPr lang="ko-KR" altLang="en-US" sz="4800" b="1" spc="-150" dirty="0">
                <a:ea typeface="맑은 고딕" panose="020B0503020000020004" pitchFamily="50" charset="-127"/>
                <a:cs typeface="+mj-cs"/>
              </a:rPr>
              <a:t>표본의 분포</a:t>
            </a:r>
            <a:endParaRPr lang="en-US" altLang="en-US" sz="4800" b="1" spc="-150" dirty="0"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B62769-8977-4F9B-A610-8FA06236C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720" y="2708920"/>
            <a:ext cx="7827102" cy="4320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4825" y="1268413"/>
            <a:ext cx="8642350" cy="525621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표본을 추출한</a:t>
            </a:r>
            <a:r>
              <a:rPr lang="en-US" altLang="ko-KR" sz="1800" b="0" dirty="0">
                <a:solidFill>
                  <a:schemeClr val="tx1"/>
                </a:solidFill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</a:rPr>
              <a:t>후</a:t>
            </a:r>
            <a:r>
              <a:rPr lang="en-US" altLang="ko-KR" sz="1800" b="0" dirty="0">
                <a:solidFill>
                  <a:schemeClr val="tx1"/>
                </a:solidFill>
              </a:rPr>
              <a:t>,</a:t>
            </a:r>
            <a:r>
              <a:rPr lang="ko-KR" altLang="en-US" sz="1800" b="0" dirty="0">
                <a:solidFill>
                  <a:schemeClr val="tx1"/>
                </a:solidFill>
              </a:rPr>
              <a:t> 표본의 특성을 파악하기 위해 표본분포의 확인이 필요표본평균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표본분산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표본비율을 통해 이후에 배우는 통계분석을 무리 없이 진행할 수 있다</a:t>
            </a:r>
            <a:r>
              <a:rPr lang="en-US" altLang="ko-KR" sz="1800" b="0" dirty="0">
                <a:solidFill>
                  <a:schemeClr val="tx1"/>
                </a:solidFill>
              </a:rPr>
              <a:t>.</a:t>
            </a:r>
            <a:endParaRPr lang="ko-KR" altLang="en-US" sz="1800" b="0" dirty="0">
              <a:solidFill>
                <a:schemeClr val="tx1"/>
              </a:solidFill>
            </a:endParaRPr>
          </a:p>
        </p:txBody>
      </p:sp>
      <p:pic>
        <p:nvPicPr>
          <p:cNvPr id="23556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2420889"/>
            <a:ext cx="6911975" cy="381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표준화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ko-KR" altLang="en-US" dirty="0"/>
              <a:t>정규분포</a:t>
            </a:r>
            <a:endParaRPr lang="en-US" altLang="ko-KR" dirty="0"/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표본분포 중 가장 단순하면서 많이 나타나는 형태의 분포</a:t>
            </a:r>
            <a:r>
              <a:rPr lang="en-US" altLang="ko-KR" sz="1800" b="0" dirty="0">
                <a:solidFill>
                  <a:schemeClr val="tx1"/>
                </a:solidFill>
              </a:rPr>
              <a:t/>
            </a:r>
            <a:br>
              <a:rPr lang="en-US" altLang="ko-KR" sz="1800" b="0" dirty="0">
                <a:solidFill>
                  <a:schemeClr val="tx1"/>
                </a:solidFill>
              </a:rPr>
            </a:br>
            <a:r>
              <a:rPr lang="en-US" altLang="ko-KR" sz="1800" b="0" dirty="0">
                <a:solidFill>
                  <a:schemeClr val="tx1"/>
                </a:solidFill>
              </a:rPr>
              <a:t>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어떤 사건이 일어난 빈도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(frequency)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를 계산하여 그래프로 나타내면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/>
            </a:r>
            <a:b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중심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평균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을 기준으로 좌우가 대칭되는 분포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F78F60-14E5-4B4C-840B-934D2C28C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387" y="3284984"/>
            <a:ext cx="4467225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표준화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latinLnBrk="0">
              <a:defRPr/>
            </a:pPr>
            <a:r>
              <a:rPr lang="ko-KR" altLang="en-US" dirty="0"/>
              <a:t>표준화</a:t>
            </a:r>
            <a:endParaRPr lang="en-US" altLang="ko-KR" dirty="0"/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단순한 현상은 정규분포만을 이용해도 결과를 알아내는 데 문제가 없지만 대부분의 연구에서는 복잡한 관계에 대한 분석 결과가 필요하므로</a:t>
            </a:r>
            <a:r>
              <a:rPr lang="en-US" altLang="ko-KR" sz="1800" b="0" dirty="0">
                <a:solidFill>
                  <a:schemeClr val="tx1"/>
                </a:solidFill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</a:rPr>
              <a:t>여러 특성에 대한 분석 결과들을 서로 비교할 수 있도록 만드는 과정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표준화란 기준점을 동일하게 맞춰 조사자가 자료들을 쉽게 비교할 수 있도록        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만드는 과정으로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표준정규분포는 평균은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0,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표준편차는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1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로 만든다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B931E5-E57C-4B73-B575-16485BBEA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4941168"/>
            <a:ext cx="6275670" cy="9940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표본평균의 확률분포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/>
                      </a:rPr>
                      <m:t>𝑧</m:t>
                    </m:r>
                  </m:oMath>
                </a14:m>
                <a:r>
                  <a:rPr lang="ko-KR" altLang="en-US" dirty="0"/>
                  <a:t>분포</a:t>
                </a:r>
                <a:endParaRPr lang="en-US" altLang="ko-KR" dirty="0"/>
              </a:p>
              <a:p>
                <a:pPr marL="0" indent="0" latinLnBrk="0">
                  <a:buNone/>
                </a:pPr>
                <a:r>
                  <a:rPr lang="ko-KR" altLang="en-US" sz="1800" b="0" dirty="0">
                    <a:solidFill>
                      <a:schemeClr val="tx1"/>
                    </a:solidFill>
                  </a:rPr>
                  <a:t>표본의 개수가 충분할 때 표준화 과정을 거친 정규분포를 표준정규분포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(standard normal distribution),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혹은 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z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분포라고 한다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0" indent="419100" latinLnBrk="0">
                  <a:buNone/>
                </a:pP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 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표준정규분포는 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‘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평균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=0, 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분산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=1’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인 정규분포를 따른다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. 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ko-KR" sz="1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B388B118-AF95-473D-8511-0BC12434D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832" y="3432943"/>
            <a:ext cx="2736304" cy="7158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F1673E-0971-49DE-98CD-E1CB3B145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32" y="5784375"/>
            <a:ext cx="80010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표본평균의 확률분포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A5BE8B-485A-4155-9E14-C1D66715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1144586"/>
            <a:ext cx="9315450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9976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표본평균의 확률분포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1" i="1" dirty="0" smtClean="0">
                        <a:latin typeface="Cambria Math"/>
                      </a:rPr>
                      <m:t>𝒕</m:t>
                    </m:r>
                  </m:oMath>
                </a14:m>
                <a:r>
                  <a:rPr lang="ko-KR" altLang="en-US" dirty="0"/>
                  <a:t>분포</a:t>
                </a:r>
                <a:endParaRPr lang="en-US" altLang="ko-KR" dirty="0"/>
              </a:p>
              <a:p>
                <a:pPr marL="0" indent="0" latinLnBrk="0">
                  <a:buNone/>
                </a:pPr>
                <a:r>
                  <a:rPr lang="ko-KR" altLang="en-US" sz="1800" b="0" dirty="0">
                    <a:solidFill>
                      <a:schemeClr val="tx1"/>
                    </a:solidFill>
                  </a:rPr>
                  <a:t>표본이 충분하지 못한 경우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즉 표본의 개수가 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30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개를 넘지 못하는 경우에는 </a:t>
                </a:r>
                <a14:m>
                  <m:oMath xmlns:m="http://schemas.openxmlformats.org/officeDocument/2006/math">
                    <m:r>
                      <a:rPr lang="en-US" altLang="ko-KR" sz="1800" b="0" i="1" dirty="0">
                        <a:solidFill>
                          <a:schemeClr val="tx1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</a:rPr>
                  <a:t>분포를 사용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561975" indent="-400050" latinLnBrk="0">
                  <a:buNone/>
                </a:pP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 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모집단은 정규분포를 이룬다는 가정이 필요하며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</a:t>
                </a:r>
                <a:b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</a:b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t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분포도 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‘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평균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=0, 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분산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&gt;1’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인 정규분포를 따른다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. 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1A073D2C-545A-43BF-BE58-751E33160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011" y="3263009"/>
            <a:ext cx="2790891" cy="64807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1A8993-EC1E-4A86-B9D6-E0E056EC2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584" y="4225628"/>
            <a:ext cx="7226765" cy="244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3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표본평균의 확률분포</a:t>
            </a:r>
          </a:p>
        </p:txBody>
      </p:sp>
      <p:pic>
        <p:nvPicPr>
          <p:cNvPr id="27652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2060575"/>
            <a:ext cx="4679950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851" y="2160588"/>
            <a:ext cx="841375" cy="23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2538" y="2780929"/>
            <a:ext cx="31432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Z</a:t>
            </a:r>
            <a:r>
              <a:rPr lang="ko-KR" altLang="en-US" dirty="0"/>
              <a:t>분포와 </a:t>
            </a:r>
            <a:r>
              <a:rPr lang="en-US" altLang="ko-KR" dirty="0"/>
              <a:t>t</a:t>
            </a:r>
            <a:r>
              <a:rPr lang="ko-KR" altLang="en-US" dirty="0"/>
              <a:t>분포의 관계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7E3D24-95CD-45AE-887F-F7EA61A7D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474" y="3501802"/>
            <a:ext cx="557212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표본분산의 확률분포</a:t>
            </a:r>
          </a:p>
        </p:txBody>
      </p:sp>
      <p:pic>
        <p:nvPicPr>
          <p:cNvPr id="28677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148" y="2971849"/>
            <a:ext cx="19240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98" y="3300463"/>
            <a:ext cx="19431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060" y="4769611"/>
            <a:ext cx="24288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8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0" y="4149080"/>
            <a:ext cx="3760788" cy="231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/>
                      </a:rPr>
                      <m:t>𝝌</m:t>
                    </m:r>
                  </m:oMath>
                </a14:m>
                <a:r>
                  <a:rPr lang="en-US" altLang="ko-KR" baseline="30000" dirty="0"/>
                  <a:t>2</a:t>
                </a:r>
                <a:r>
                  <a:rPr lang="ko-KR" altLang="en-US" dirty="0"/>
                  <a:t>분포</a:t>
                </a:r>
                <a:endParaRPr lang="en-US" altLang="ko-K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ko-KR" altLang="en-US" sz="1800" b="0" dirty="0">
                        <a:solidFill>
                          <a:schemeClr val="tx1"/>
                        </a:solidFill>
                        <a:latin typeface="Cambria Math"/>
                      </a:rPr>
                      <m:t>𝝌</m:t>
                    </m:r>
                  </m:oMath>
                </a14:m>
                <a:r>
                  <a:rPr lang="en-US" altLang="ko-KR" sz="1800" b="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분포는 정규분포로부터 도출되고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b="0" i="1" dirty="0">
                        <a:solidFill>
                          <a:schemeClr val="tx1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</a:rPr>
                  <a:t>분포의 제곱에 대한 분포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ko-KR" altLang="ko-KR" sz="1800" b="0" dirty="0">
                    <a:solidFill>
                      <a:schemeClr val="tx1"/>
                    </a:solidFill>
                  </a:rPr>
                  <a:t>∴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항상 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0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보다 큰 값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ko-KR" altLang="en-US" sz="1800" b="0" dirty="0">
                    <a:solidFill>
                      <a:schemeClr val="tx1"/>
                    </a:solidFill>
                  </a:rPr>
                  <a:t> 확률변수                         이 표준정규분포이면서 독립이라면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                           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은 새로운 확률변수를 구성하게 되고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</a:t>
                </a:r>
                <a:b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</a:b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      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이 분포를 자유도가 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n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인 </a:t>
                </a:r>
                <a14:m>
                  <m:oMath xmlns:m="http://schemas.openxmlformats.org/officeDocument/2006/math">
                    <m:r>
                      <a:rPr lang="ko-KR" altLang="en-US" sz="1800" b="0" dirty="0">
                        <a:solidFill>
                          <a:schemeClr val="tx1"/>
                        </a:solidFill>
                        <a:latin typeface="Cambria Math"/>
                      </a:rPr>
                      <m:t>𝝌</m:t>
                    </m:r>
                  </m:oMath>
                </a14:m>
                <a:r>
                  <a:rPr lang="en-US" altLang="ko-KR" sz="1800" b="0" baseline="30000" dirty="0">
                    <a:solidFill>
                      <a:schemeClr val="tx1"/>
                    </a:solidFill>
                  </a:rPr>
                  <a:t>2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분포라 한다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4" name="내용 개체 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6"/>
                <a:stretch>
                  <a:fillRect l="-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 dirty="0">
                <a:solidFill>
                  <a:srgbClr val="C00000"/>
                </a:solidFill>
              </a:rPr>
              <a:t>표본분산의 확률분포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lang="ko-KR" altLang="en-US" dirty="0"/>
                  <a:t>분포</a:t>
                </a:r>
                <a:endParaRPr lang="en-US" altLang="ko-K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ko-KR" sz="1800" b="0" i="1" dirty="0">
                        <a:solidFill>
                          <a:schemeClr val="tx1"/>
                        </a:solidFill>
                        <a:latin typeface="Cambria Math"/>
                      </a:rPr>
                      <m:t>𝐹</m:t>
                    </m:r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</a:rPr>
                  <a:t>분포는 두 개의 분산에 관한 추론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 F(</a:t>
                </a:r>
                <a14:m>
                  <m:oMath xmlns:m="http://schemas.openxmlformats.org/officeDocument/2006/math">
                    <m:r>
                      <a:rPr lang="ko-KR" altLang="en-US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𝜐</m:t>
                    </m:r>
                    <m:r>
                      <a:rPr lang="en-US" altLang="ko-KR" sz="1800" b="0" i="1" baseline="-2500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1</m:t>
                    </m:r>
                    <m:r>
                      <a:rPr lang="en-US" altLang="ko-KR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,</m:t>
                    </m:r>
                    <m:r>
                      <a:rPr lang="ko-KR" altLang="en-US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𝜐</m:t>
                    </m:r>
                    <m:r>
                      <a:rPr lang="en-US" altLang="ko-KR" sz="1800" b="0" i="1" baseline="-2500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2</m:t>
                    </m:r>
                    <m:r>
                      <a:rPr lang="en-US" altLang="ko-KR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endParaRPr lang="en-US" altLang="ko-KR" sz="1800" b="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ko-KR" altLang="ko-KR" sz="1800" b="0" dirty="0">
                    <a:solidFill>
                      <a:schemeClr val="tx1"/>
                    </a:solidFill>
                  </a:rPr>
                  <a:t>∴</a:t>
                </a:r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800" b="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𝜐</m:t>
                    </m:r>
                    <m:r>
                      <a:rPr lang="en-US" altLang="ko-KR" sz="1800" b="0" baseline="-2500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1</m:t>
                    </m:r>
                    <m:r>
                      <a:rPr lang="en-US" altLang="ko-KR" sz="1800" b="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,</m:t>
                    </m:r>
                    <m:r>
                      <a:rPr lang="ko-KR" altLang="en-US" sz="1800" b="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𝜐</m:t>
                    </m:r>
                    <m:r>
                      <a:rPr lang="en-US" altLang="ko-KR" sz="1800" b="0" baseline="-2500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2</m:t>
                    </m:r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는</a:t>
                </a:r>
                <a:r>
                  <a:rPr lang="en-US" altLang="ko-KR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ko-KR" altLang="en-US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각각의 </a:t>
                </a:r>
                <a14:m>
                  <m:oMath xmlns:m="http://schemas.openxmlformats.org/officeDocument/2006/math">
                    <m:r>
                      <a:rPr lang="en-US" altLang="ko-KR" sz="1800" b="0" i="1" dirty="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ko-KR" sz="1800" b="0" i="1" baseline="30000" dirty="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2</m:t>
                    </m:r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에 대한 분산</a:t>
                </a:r>
                <a:endParaRPr lang="en-US" altLang="ko-KR" sz="1800" b="0" dirty="0">
                  <a:solidFill>
                    <a:schemeClr val="tx1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altLang="ko-KR" sz="1800" b="0" dirty="0">
                  <a:solidFill>
                    <a:schemeClr val="tx1"/>
                  </a:solidFill>
                  <a:latin typeface="+mj-lt"/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ko-KR" altLang="en-US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분산이 같은 모집단에서 </a:t>
                </a:r>
                <a14:m>
                  <m:oMath xmlns:m="http://schemas.openxmlformats.org/officeDocument/2006/math">
                    <m:r>
                      <a:rPr lang="en-US" altLang="ko-KR" sz="1800" b="0" i="1" dirty="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𝑋𝑛</m:t>
                    </m:r>
                    <m:r>
                      <a:rPr lang="en-US" altLang="ko-KR" sz="1800" b="0" i="1" dirty="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, </m:t>
                    </m:r>
                    <m:r>
                      <a:rPr lang="ko-KR" altLang="en-US" sz="1800" b="0" i="1" dirty="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𝒴</m:t>
                    </m:r>
                    <m:r>
                      <a:rPr lang="en-US" altLang="ko-KR" sz="1800" b="0" i="1" dirty="0" err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𝑚</m:t>
                    </m:r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만큼 표본을 구하고</a:t>
                </a:r>
                <a:r>
                  <a:rPr lang="en-US" altLang="ko-KR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, </a:t>
                </a:r>
                <a:r>
                  <a:rPr lang="ko-KR" altLang="en-US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각각의 분산이</a:t>
                </a:r>
                <a:r>
                  <a:rPr lang="en-US" altLang="ko-KR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/>
                </a:r>
                <a:br>
                  <a:rPr lang="en-US" altLang="ko-KR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</a:br>
                <a14:m>
                  <m:oMath xmlns:m="http://schemas.openxmlformats.org/officeDocument/2006/math">
                    <m:r>
                      <a:rPr lang="ko-KR" altLang="en-US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𝜐</m:t>
                    </m:r>
                    <m:r>
                      <a:rPr lang="en-US" altLang="ko-KR" sz="1800" b="0" i="1" baseline="-2500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1</m:t>
                    </m:r>
                    <m:r>
                      <a:rPr lang="en-US" altLang="ko-KR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𝑆</m:t>
                        </m:r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𝑛</m:t>
                        </m:r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−1)</m:t>
                        </m:r>
                      </m:den>
                    </m:f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 </a:t>
                </a:r>
                <a:r>
                  <a:rPr lang="en-US" altLang="ko-KR" sz="1800" b="0" dirty="0">
                    <a:solidFill>
                      <a:schemeClr val="tx1"/>
                    </a:solidFill>
                    <a:latin typeface="+mj-lt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𝜐</m:t>
                    </m:r>
                    <m:r>
                      <a:rPr lang="en-US" altLang="ko-KR" sz="1800" b="0" i="1" baseline="-25000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2</m:t>
                    </m:r>
                    <m:r>
                      <a:rPr lang="en-US" altLang="ko-KR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𝑆</m:t>
                        </m:r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(</m:t>
                        </m:r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𝑚</m:t>
                        </m:r>
                        <m: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−1)</m:t>
                        </m:r>
                      </m:den>
                    </m:f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일 때</a:t>
                </a:r>
                <a:r>
                  <a:rPr lang="en-US" altLang="ko-KR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𝐹</m:t>
                    </m:r>
                    <m:r>
                      <a:rPr lang="en-US" altLang="ko-KR" sz="1800" b="0" i="1">
                        <a:solidFill>
                          <a:schemeClr val="tx1"/>
                        </a:solidFill>
                        <a:latin typeface="Cambria Math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ko-KR" sz="1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ko-KR" altLang="en-US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𝜐</m:t>
                        </m:r>
                        <m:r>
                          <a:rPr lang="en-US" altLang="ko-KR" sz="1800" b="0" i="1" baseline="-25000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ko-KR" altLang="en-US" sz="1800" b="0" i="1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𝜐</m:t>
                        </m:r>
                        <m:r>
                          <a:rPr lang="en-US" altLang="ko-KR" sz="1800" b="0" i="1" baseline="-25000">
                            <a:solidFill>
                              <a:schemeClr val="tx1"/>
                            </a:solidFill>
                            <a:latin typeface="Cambria Math"/>
                            <a:sym typeface="Wingdings" panose="05000000000000000000" pitchFamily="2" charset="2"/>
                          </a:rPr>
                          <m:t>2</m:t>
                        </m:r>
                      </m:den>
                    </m:f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는 각 비율을 나타냄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056" y="3358633"/>
            <a:ext cx="4398696" cy="3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표본비율의 확률분포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/>
              <p:cNvSpPr>
                <a:spLocks noGrp="1"/>
              </p:cNvSpPr>
              <p:nvPr>
                <p:ph idx="1"/>
              </p:nvPr>
            </p:nvSpPr>
            <p:spPr>
              <a:xfrm>
                <a:off x="1774825" y="1066801"/>
                <a:ext cx="8642350" cy="5472113"/>
              </a:xfrm>
            </p:spPr>
            <p:txBody>
              <a:bodyPr/>
              <a:lstStyle/>
              <a:p>
                <a:pPr>
                  <a:defRPr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b="1" i="1" smtClean="0">
                            <a:latin typeface="Cambria Math"/>
                          </a:rPr>
                          <m:t>𝒑</m:t>
                        </m:r>
                      </m:e>
                    </m:acc>
                  </m:oMath>
                </a14:m>
                <a:r>
                  <a:rPr lang="ko-KR" altLang="en-US" dirty="0"/>
                  <a:t>분포</a:t>
                </a:r>
                <a:endParaRPr lang="en-US" altLang="ko-KR" dirty="0"/>
              </a:p>
              <a:p>
                <a:pPr marL="0" indent="0">
                  <a:buNone/>
                  <a:defRPr/>
                </a:pPr>
                <a:r>
                  <a:rPr lang="ko-KR" altLang="en-US" sz="1800" b="0" dirty="0">
                    <a:solidFill>
                      <a:schemeClr val="tx1"/>
                    </a:solidFill>
                  </a:rPr>
                  <a:t>표본비율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800" b="0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ko-KR" altLang="en-US" sz="1800" b="0">
                            <a:solidFill>
                              <a:schemeClr val="tx1"/>
                            </a:solidFill>
                            <a:latin typeface="Cambria Math"/>
                          </a:rPr>
                          <m:t>𝒑</m:t>
                        </m:r>
                      </m:e>
                    </m:acc>
                  </m:oMath>
                </a14:m>
                <a:r>
                  <a:rPr lang="ko-KR" altLang="en-US" sz="1800" b="0" dirty="0">
                    <a:solidFill>
                      <a:schemeClr val="tx1"/>
                    </a:solidFill>
                  </a:rPr>
                  <a:t>은 모집단의 특성 중 </a:t>
                </a:r>
                <a:r>
                  <a:rPr lang="ko-KR" altLang="en-US" sz="1800" b="0" dirty="0" err="1">
                    <a:solidFill>
                      <a:schemeClr val="tx1"/>
                    </a:solidFill>
                  </a:rPr>
                  <a:t>모비율을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 추정하기 위해 사용됨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  <a:defRPr/>
                </a:pP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  <a:defRPr/>
                </a:pPr>
                <a:r>
                  <a:rPr lang="en-US" altLang="ko-KR" sz="1800" b="0" dirty="0">
                    <a:solidFill>
                      <a:schemeClr val="tx1"/>
                    </a:solidFill>
                  </a:rPr>
                  <a:t> 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주로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성공 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vs.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실패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, 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남성 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vs.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여성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, 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구매 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vs.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비구매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등과 같이 어느 한 사건이 </a:t>
                </a:r>
                <a:endParaRPr lang="en-US" altLang="ko-KR" sz="1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  <a:defRPr/>
                </a:pPr>
                <a:r>
                  <a:rPr lang="en-US" altLang="ko-KR" sz="1800" b="0" dirty="0">
                    <a:solidFill>
                      <a:schemeClr val="tx1"/>
                    </a:solidFill>
                  </a:rPr>
                  <a:t>  </a:t>
                </a:r>
                <a:r>
                  <a:rPr lang="ko-KR" altLang="en-US" sz="1800" b="0" dirty="0">
                    <a:solidFill>
                      <a:schemeClr val="tx1"/>
                    </a:solidFill>
                  </a:rPr>
                  <a:t>발생하는 베르누이 시행의 이항분포를 활용하여 표본비율의 분포를 구한다</a:t>
                </a:r>
                <a:r>
                  <a:rPr lang="en-US" altLang="ko-KR" sz="1800" b="0" dirty="0">
                    <a:solidFill>
                      <a:schemeClr val="tx1"/>
                    </a:solidFill>
                  </a:rPr>
                  <a:t>.</a:t>
                </a:r>
                <a:endParaRPr lang="en-US" altLang="ko-KR" sz="1800" b="0" dirty="0">
                  <a:solidFill>
                    <a:schemeClr val="tx1"/>
                  </a:solidFill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2" name="내용 개체 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4825" y="1066801"/>
                <a:ext cx="8642350" cy="5472113"/>
              </a:xfrm>
              <a:blipFill>
                <a:blip r:embed="rId2"/>
                <a:stretch>
                  <a:fillRect l="-7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58D97246-6E9B-4F3E-8461-F0BB362FB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246" y="3789040"/>
            <a:ext cx="7063507" cy="23658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991544" y="1444005"/>
            <a:ext cx="7814960" cy="835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  <a:defRPr/>
            </a:pPr>
            <a:r>
              <a:rPr lang="en-US" altLang="ko-KR" sz="4800" b="1" spc="-150" dirty="0">
                <a:ea typeface="맑은 고딕" panose="020B0503020000020004" pitchFamily="50" charset="-127"/>
                <a:cs typeface="+mj-cs"/>
              </a:rPr>
              <a:t>03 </a:t>
            </a:r>
            <a:r>
              <a:rPr lang="ko-KR" altLang="en-US" sz="4800" b="1" spc="-150" dirty="0">
                <a:ea typeface="맑은 고딕" panose="020B0503020000020004" pitchFamily="50" charset="-127"/>
                <a:cs typeface="+mj-cs"/>
              </a:rPr>
              <a:t>표본분포와 중심극한정리</a:t>
            </a:r>
            <a:endParaRPr lang="en-US" altLang="en-US" sz="4800" b="1" spc="-150" dirty="0"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783633" y="2564904"/>
            <a:ext cx="6911975" cy="369332"/>
          </a:xfrm>
          <a:prstGeom prst="rect">
            <a:avLst/>
          </a:prstGeom>
          <a:blipFill rotWithShape="0">
            <a:blip r:embed="rId2"/>
            <a:stretch>
              <a:fillRect l="-794" t="-13333" b="-26667"/>
            </a:stretch>
          </a:blipFill>
        </p:spPr>
        <p:txBody>
          <a:bodyPr/>
          <a:lstStyle/>
          <a:p>
            <a:pPr>
              <a:defRPr/>
            </a:pPr>
            <a:r>
              <a:rPr lang="ko-KR" altLang="en-US" dirty="0">
                <a:noFill/>
                <a:ea typeface="맑은 고딕" panose="020B0503020000020004" pitchFamily="50" charset="-127"/>
              </a:rPr>
              <a:t>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표본분포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</a:rPr>
              <a:t>표본분포</a:t>
            </a:r>
            <a:r>
              <a:rPr lang="en-US" altLang="ko-KR" sz="1800" b="0" dirty="0">
                <a:solidFill>
                  <a:schemeClr val="tx1"/>
                </a:solidFill>
              </a:rPr>
              <a:t>(sample distribution)</a:t>
            </a:r>
            <a:r>
              <a:rPr lang="ko-KR" altLang="en-US" sz="1800" b="0" dirty="0">
                <a:solidFill>
                  <a:schemeClr val="tx1"/>
                </a:solidFill>
              </a:rPr>
              <a:t>는 표본에서 도출되는 통계량에 대한 확률분포</a:t>
            </a:r>
            <a:endParaRPr lang="en-US" altLang="ko-KR" sz="1800" b="0" dirty="0">
              <a:solidFill>
                <a:schemeClr val="tx1"/>
              </a:solidFill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</a:rPr>
              <a:t> 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표본분포는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모수를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추정하기 위한 표본 통계량의 확률분포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여러 번 측정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)</a:t>
            </a: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Ex. 5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일간의 통학 시간이 각각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37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분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25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분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49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분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33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분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56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분이 소요되었다면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</a:p>
          <a:p>
            <a:pPr marL="0" indent="0" latinLnBrk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평균 통학 시간은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?</a:t>
            </a: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모집단의 구성이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5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개로 되어 있으므로 간단히 표본을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2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개 추출하는 경우와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3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개 추출하는 경우를 비교해보면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…</a:t>
            </a:r>
          </a:p>
        </p:txBody>
      </p:sp>
      <p:pic>
        <p:nvPicPr>
          <p:cNvPr id="32772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4" y="3429000"/>
            <a:ext cx="540067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표본을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2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개 혹은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3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개 추출할 때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각 경우의 수에 대한 평균을 구해보면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…</a:t>
            </a:r>
          </a:p>
        </p:txBody>
      </p:sp>
      <p:pic>
        <p:nvPicPr>
          <p:cNvPr id="33795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1241426"/>
            <a:ext cx="6840538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표본분포</a:t>
            </a:r>
          </a:p>
        </p:txBody>
      </p:sp>
      <p:pic>
        <p:nvPicPr>
          <p:cNvPr id="33797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4" y="2406651"/>
            <a:ext cx="3240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4" y="4198939"/>
            <a:ext cx="3240087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표본분포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34820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9789" y="1062039"/>
            <a:ext cx="543242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표본분포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711625"/>
            <a:ext cx="8543925" cy="3175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표본평균의 오차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표본평균의 오차 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: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표본으로부터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모수를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추정했을 때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모수와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통계량 간의 차이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36868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1538288"/>
            <a:ext cx="6265862" cy="51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표본평균의 오차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표본의 개수가 늘어날수록 통계량이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모수와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가까워짐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D129CA-5533-45AF-B8D3-29631BC45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2924944"/>
            <a:ext cx="10729192" cy="203996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중심극한정리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713788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중심극한정리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(Central Limit Theorem : CLT)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는 표본의 개수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(n)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가 충분하다면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모수를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모르는 상황에서도 표본 통계량으로 정규분포를 구성하여 </a:t>
            </a:r>
            <a:r>
              <a:rPr lang="ko-KR" altLang="en-US" sz="1800" b="0" dirty="0" err="1">
                <a:solidFill>
                  <a:schemeClr val="tx1"/>
                </a:solidFill>
                <a:sym typeface="Wingdings" panose="05000000000000000000" pitchFamily="2" charset="2"/>
              </a:rPr>
              <a:t>모수를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추정할 수 있다는 것이다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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중심극한정리에서는 모집단이 정규분포를 이루지 않아도 표본의 개수가 </a:t>
            </a:r>
            <a:endParaRPr lang="en-US" altLang="ko-KR" sz="1800" b="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0" indent="0">
              <a:buNone/>
              <a:defRPr/>
            </a:pP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     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충분하다면 정규분포를 이루게 된다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7DDD08-B184-4604-970B-DC8B03E4F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488" y="3500437"/>
            <a:ext cx="4073020" cy="19469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30C116-7E8F-423E-BEC8-C11E1A64D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967" y="3500437"/>
            <a:ext cx="4668373" cy="194699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r>
              <a:rPr lang="ko-KR" altLang="en-US">
                <a:solidFill>
                  <a:srgbClr val="C00000"/>
                </a:solidFill>
              </a:rPr>
              <a:t>중심극한정리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1774825" y="1066801"/>
            <a:ext cx="8642350" cy="5472113"/>
          </a:xfrm>
        </p:spPr>
        <p:txBody>
          <a:bodyPr/>
          <a:lstStyle/>
          <a:p>
            <a:pPr marL="0" indent="0" latinLnBrk="0">
              <a:buNone/>
              <a:defRPr/>
            </a:pP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중심극한정리를 이용하면 정규분포의 모양으로 확인할 수 있어서 평균을 바로 비교할 수 있다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 </a:t>
            </a:r>
            <a:r>
              <a:rPr lang="ko-KR" altLang="en-US" sz="1800" b="0" dirty="0">
                <a:solidFill>
                  <a:schemeClr val="tx1"/>
                </a:solidFill>
                <a:sym typeface="Wingdings" panose="05000000000000000000" pitchFamily="2" charset="2"/>
              </a:rPr>
              <a:t>정규분포로 구성하면 그래프의 가장 높은 상단이 평균이 되므로 평균값을 비교할 수 있다</a:t>
            </a:r>
            <a:r>
              <a:rPr lang="en-US" altLang="ko-KR" sz="1800" b="0" dirty="0">
                <a:solidFill>
                  <a:schemeClr val="tx1"/>
                </a:solidFill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4" name="오른쪽 화살표 3"/>
          <p:cNvSpPr/>
          <p:nvPr/>
        </p:nvSpPr>
        <p:spPr>
          <a:xfrm>
            <a:off x="5159376" y="4292600"/>
            <a:ext cx="1484313" cy="64928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/>
              <a:t>중심극한정리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9017F0-8153-4BC7-A96E-5A21679A9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61" y="3500436"/>
            <a:ext cx="4073020" cy="19469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D5070B-EDB5-42DD-A9F7-5D1BCEECB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80" y="3500437"/>
            <a:ext cx="4668373" cy="19469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/>
          <p:cNvSpPr>
            <a:spLocks noGrp="1"/>
          </p:cNvSpPr>
          <p:nvPr>
            <p:ph type="title"/>
          </p:nvPr>
        </p:nvSpPr>
        <p:spPr>
          <a:xfrm>
            <a:off x="1774826" y="188914"/>
            <a:ext cx="7561263" cy="549275"/>
          </a:xfrm>
        </p:spPr>
        <p:txBody>
          <a:bodyPr/>
          <a:lstStyle/>
          <a:p>
            <a:endParaRPr lang="ko-KR" altLang="en-US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FA3302-48A0-4ABF-96D3-F6B82C92C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550" y="1924050"/>
            <a:ext cx="79629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FF0000"/>
          </a:solidFill>
          <a:prstDash val="dash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5185</TotalTime>
  <Words>841</Words>
  <Application>Microsoft Office PowerPoint</Application>
  <PresentationFormat>와이드스크린</PresentationFormat>
  <Paragraphs>158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3" baseType="lpstr">
      <vt:lpstr>맑은 고딕</vt:lpstr>
      <vt:lpstr>Arial</vt:lpstr>
      <vt:lpstr>Wingdings</vt:lpstr>
      <vt:lpstr>Cambria Math</vt:lpstr>
      <vt:lpstr>굴림</vt:lpstr>
      <vt:lpstr>Office 테마</vt:lpstr>
      <vt:lpstr>PowerPoint 프레젠테이션</vt:lpstr>
      <vt:lpstr>PowerPoint 프레젠테이션</vt:lpstr>
      <vt:lpstr>목 차</vt:lpstr>
      <vt:lpstr>PowerPoint 프레젠테이션</vt:lpstr>
      <vt:lpstr>모집단과 표본</vt:lpstr>
      <vt:lpstr>모집단과 표본</vt:lpstr>
      <vt:lpstr>모집단과 표본</vt:lpstr>
      <vt:lpstr>모집단과 표본</vt:lpstr>
      <vt:lpstr>PowerPoint 프레젠테이션</vt:lpstr>
      <vt:lpstr>표본추출 방법</vt:lpstr>
      <vt:lpstr>확률적 표본추출</vt:lpstr>
      <vt:lpstr>확률적 표본추출</vt:lpstr>
      <vt:lpstr>확률적 표본추출</vt:lpstr>
      <vt:lpstr>비확률적 표본추출</vt:lpstr>
      <vt:lpstr>비확률적 표본추출</vt:lpstr>
      <vt:lpstr>PowerPoint 프레젠테이션</vt:lpstr>
      <vt:lpstr>PowerPoint 프레젠테이션</vt:lpstr>
      <vt:lpstr>표준화</vt:lpstr>
      <vt:lpstr>표준화</vt:lpstr>
      <vt:lpstr>표본평균의 확률분포</vt:lpstr>
      <vt:lpstr>표본평균의 확률분포</vt:lpstr>
      <vt:lpstr>표본평균의 확률분포</vt:lpstr>
      <vt:lpstr>표본평균의 확률분포</vt:lpstr>
      <vt:lpstr>표본분산의 확률분포</vt:lpstr>
      <vt:lpstr>표본분산의 확률분포</vt:lpstr>
      <vt:lpstr>표본비율의 확률분포</vt:lpstr>
      <vt:lpstr>PowerPoint 프레젠테이션</vt:lpstr>
      <vt:lpstr>표본분포</vt:lpstr>
      <vt:lpstr>표본분포</vt:lpstr>
      <vt:lpstr>표본분포</vt:lpstr>
      <vt:lpstr>표본분포</vt:lpstr>
      <vt:lpstr>표본평균의 오차</vt:lpstr>
      <vt:lpstr>표본평균의 오차</vt:lpstr>
      <vt:lpstr>중심극한정리</vt:lpstr>
      <vt:lpstr>중심극한정리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daaep@naver.com</dc:creator>
  <cp:lastModifiedBy>kds</cp:lastModifiedBy>
  <cp:revision>463</cp:revision>
  <dcterms:created xsi:type="dcterms:W3CDTF">2012-07-11T10:23:22Z</dcterms:created>
  <dcterms:modified xsi:type="dcterms:W3CDTF">2024-10-24T15:59:21Z</dcterms:modified>
</cp:coreProperties>
</file>